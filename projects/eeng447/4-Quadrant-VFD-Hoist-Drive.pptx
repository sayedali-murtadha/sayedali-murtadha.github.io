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embeddedFontLst>
    <p:embeddedFont>
      <p:font typeface="MiSans" charset="-122" pitchFamily="34"/>
      <p:regular r:id="rId27"/>
    </p:embeddedFont>
    <p:embeddedFont>
      <p:font typeface="Noto Sans SC" charset="-122" pitchFamily="34"/>
      <p:regular r:id="rId2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Relationship Id="rId2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1.jpg"/><Relationship Id="rId3" Type="http://schemas.openxmlformats.org/officeDocument/2006/relationships/image" Target="../media/image-2-1.jpg"/><Relationship Id="rId4" Type="http://schemas.openxmlformats.org/officeDocument/2006/relationships/image" Target="../media/image-2-1.jpg"/><Relationship Id="rId5" Type="http://schemas.openxmlformats.org/officeDocument/2006/relationships/image" Target="../media/image-2-1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rotWithShape="1" flip="none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rotWithShape="1" flip="none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9790" y="1950085"/>
            <a:ext cx="6831330" cy="21158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2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4-Quadrant VFD Hoist Drive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280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5280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3665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665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2049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42049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70434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0434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98818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98818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27203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7203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rotWithShape="1" flip="none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402E7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402E7F"/>
          </a:solidFill>
          <a:ln/>
        </p:spPr>
      </p:sp>
      <p:sp>
        <p:nvSpPr>
          <p:cNvPr id="6" name="Text 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402E7F"/>
          </a:solidFill>
          <a:ln/>
        </p:spPr>
      </p:sp>
      <p:sp>
        <p:nvSpPr>
          <p:cNvPr id="10" name="Text 8"/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402E7F"/>
          </a:solidFill>
          <a:ln/>
        </p:spPr>
      </p:sp>
      <p:sp>
        <p:nvSpPr>
          <p:cNvPr id="12" name="Text 10"/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402E7F"/>
          </a:solidFill>
          <a:ln/>
        </p:spPr>
      </p:sp>
      <p:sp>
        <p:nvSpPr>
          <p:cNvPr id="14" name="Text 12"/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7230" y="469900"/>
            <a:ext cx="106680" cy="106680"/>
          </a:xfrm>
          <a:prstGeom prst="ellipse">
            <a:avLst/>
          </a:prstGeom>
          <a:solidFill>
            <a:srgbClr val="402E7F"/>
          </a:solidFill>
          <a:ln/>
        </p:spPr>
      </p:sp>
      <p:sp>
        <p:nvSpPr>
          <p:cNvPr id="16" name="Text 14"/>
          <p:cNvSpPr/>
          <p:nvPr/>
        </p:nvSpPr>
        <p:spPr>
          <a:xfrm>
            <a:off x="69723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81075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107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64920" y="469900"/>
            <a:ext cx="106680" cy="106680"/>
          </a:xfrm>
          <a:prstGeom prst="ellipse">
            <a:avLst/>
          </a:prstGeom>
          <a:solidFill>
            <a:srgbClr val="402E7F"/>
          </a:solidFill>
          <a:ln/>
        </p:spPr>
      </p:sp>
      <p:sp>
        <p:nvSpPr>
          <p:cNvPr id="20" name="Text 18"/>
          <p:cNvSpPr/>
          <p:nvPr/>
        </p:nvSpPr>
        <p:spPr>
          <a:xfrm>
            <a:off x="126492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548765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4876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832610" y="469900"/>
            <a:ext cx="106680" cy="106680"/>
          </a:xfrm>
          <a:prstGeom prst="ellipse">
            <a:avLst/>
          </a:prstGeom>
          <a:solidFill>
            <a:srgbClr val="402E7F"/>
          </a:solidFill>
          <a:ln/>
        </p:spPr>
      </p:sp>
      <p:sp>
        <p:nvSpPr>
          <p:cNvPr id="24" name="Text 22"/>
          <p:cNvSpPr/>
          <p:nvPr/>
        </p:nvSpPr>
        <p:spPr>
          <a:xfrm>
            <a:off x="183261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116455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1645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7" name="Image 0" descr="https://kimi-img.moonshot.cn/pub/slides/slides_tmpl/image/25-09-08-15:08:33-d2v81sdnfo2stf9dkdgg.jpg">    </p:cNvPr>
          <p:cNvPicPr>
            <a:picLocks noChangeAspect="1"/>
          </p:cNvPicPr>
          <p:nvPr/>
        </p:nvPicPr>
        <p:blipFill>
          <a:blip r:embed="rId1"/>
          <a:srcRect l="13082" r="5289" t="46098" b="33026"/>
          <a:stretch/>
        </p:blipFill>
        <p:spPr>
          <a:xfrm>
            <a:off x="-25400" y="2216150"/>
            <a:ext cx="5394960" cy="71628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-25400" y="2216150"/>
            <a:ext cx="12192635" cy="7162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-25400" y="2216150"/>
            <a:ext cx="12192635" cy="7162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0" name="Image 1" descr="https://kimi-img.moonshot.cn/pub/slides/slides_tmpl/image/25-09-08-15:08:33-d2v81sdnfo2stf9dkdgg.jpg">    </p:cNvPr>
          <p:cNvPicPr>
            <a:picLocks noChangeAspect="1"/>
          </p:cNvPicPr>
          <p:nvPr/>
        </p:nvPicPr>
        <p:blipFill>
          <a:blip r:embed="rId2"/>
          <a:srcRect l="13082" r="5289" t="46098" b="33026"/>
          <a:stretch/>
        </p:blipFill>
        <p:spPr>
          <a:xfrm>
            <a:off x="-25400" y="3806825"/>
            <a:ext cx="5394960" cy="71628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-25400" y="3806825"/>
            <a:ext cx="12192635" cy="7162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-25400" y="3806825"/>
            <a:ext cx="12192635" cy="7162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3" name="Image 2" descr="https://kimi-img.moonshot.cn/pub/slides/slides_tmpl/image/25-09-08-15:08:33-d2v81sdnfo2stf9dkdgg.jpg">    </p:cNvPr>
          <p:cNvPicPr>
            <a:picLocks noChangeAspect="1"/>
          </p:cNvPicPr>
          <p:nvPr/>
        </p:nvPicPr>
        <p:blipFill>
          <a:blip r:embed="rId3"/>
          <a:srcRect l="13082" r="5289" t="46098" b="33026"/>
          <a:stretch/>
        </p:blipFill>
        <p:spPr>
          <a:xfrm>
            <a:off x="-25400" y="5397500"/>
            <a:ext cx="5394960" cy="716280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-25400" y="5397500"/>
            <a:ext cx="12192635" cy="7162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-25400" y="5397500"/>
            <a:ext cx="12192635" cy="7162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6" name="Image 3" descr="https://kimi-img.moonshot.cn/pub/slides/slides_tmpl/image/25-09-08-15:08:33-d2v81sdnfo2stf9dkdgg.jpg">    </p:cNvPr>
          <p:cNvPicPr>
            <a:picLocks noChangeAspect="1"/>
          </p:cNvPicPr>
          <p:nvPr/>
        </p:nvPicPr>
        <p:blipFill>
          <a:blip r:embed="rId4"/>
          <a:srcRect l="13082" r="5289" t="46098" b="33026"/>
          <a:stretch/>
        </p:blipFill>
        <p:spPr>
          <a:xfrm>
            <a:off x="6772275" y="3011170"/>
            <a:ext cx="5394960" cy="716280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-25400" y="3011170"/>
            <a:ext cx="12192635" cy="7162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-25400" y="3011170"/>
            <a:ext cx="12192635" cy="7162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9" name="Image 4" descr="https://kimi-img.moonshot.cn/pub/slides/slides_tmpl/image/25-09-08-15:08:33-d2v81sdnfo2stf9dkdgg.jpg">    </p:cNvPr>
          <p:cNvPicPr>
            <a:picLocks noChangeAspect="1"/>
          </p:cNvPicPr>
          <p:nvPr/>
        </p:nvPicPr>
        <p:blipFill>
          <a:blip r:embed="rId5"/>
          <a:srcRect l="13082" r="5289" t="46098" b="33026"/>
          <a:stretch/>
        </p:blipFill>
        <p:spPr>
          <a:xfrm>
            <a:off x="6772275" y="4601845"/>
            <a:ext cx="5394960" cy="716280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-25400" y="4601845"/>
            <a:ext cx="12192635" cy="7162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-25400" y="4601845"/>
            <a:ext cx="12192635" cy="7162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2" name="Shape 35"/>
          <p:cNvSpPr/>
          <p:nvPr/>
        </p:nvSpPr>
        <p:spPr>
          <a:xfrm>
            <a:off x="3619500" y="986155"/>
            <a:ext cx="4953000" cy="92329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3" name="Text 36"/>
          <p:cNvSpPr/>
          <p:nvPr/>
        </p:nvSpPr>
        <p:spPr>
          <a:xfrm>
            <a:off x="3619500" y="986155"/>
            <a:ext cx="4953000" cy="923290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b"/>
          <a:lstStyle/>
          <a:p>
            <a:pPr algn="ctr">
              <a:lnSpc>
                <a:spcPct val="100000"/>
              </a:lnSpc>
            </a:pPr>
            <a:r>
              <a:rPr lang="en-US" sz="5400" dirty="0">
                <a:solidFill>
                  <a:srgbClr val="1E1C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4" name="Shape 37"/>
          <p:cNvSpPr/>
          <p:nvPr/>
        </p:nvSpPr>
        <p:spPr>
          <a:xfrm>
            <a:off x="-35560" y="2216150"/>
            <a:ext cx="5396400" cy="716369"/>
          </a:xfrm>
          <a:prstGeom prst="rect">
            <a:avLst/>
          </a:prstGeom>
          <a:gradFill rotWithShape="1" flip="none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</p:sp>
      <p:sp>
        <p:nvSpPr>
          <p:cNvPr id="45" name="Text 38"/>
          <p:cNvSpPr/>
          <p:nvPr/>
        </p:nvSpPr>
        <p:spPr>
          <a:xfrm>
            <a:off x="-35560" y="2216150"/>
            <a:ext cx="5396400" cy="7163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6" name="Shape 39"/>
          <p:cNvSpPr/>
          <p:nvPr/>
        </p:nvSpPr>
        <p:spPr>
          <a:xfrm>
            <a:off x="-35560" y="3806736"/>
            <a:ext cx="5396400" cy="716369"/>
          </a:xfrm>
          <a:prstGeom prst="rect">
            <a:avLst/>
          </a:prstGeom>
          <a:gradFill rotWithShape="1" flip="none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</p:sp>
      <p:sp>
        <p:nvSpPr>
          <p:cNvPr id="47" name="Text 40"/>
          <p:cNvSpPr/>
          <p:nvPr/>
        </p:nvSpPr>
        <p:spPr>
          <a:xfrm>
            <a:off x="-35560" y="3806736"/>
            <a:ext cx="5396400" cy="7163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8" name="Shape 41"/>
          <p:cNvSpPr/>
          <p:nvPr/>
        </p:nvSpPr>
        <p:spPr>
          <a:xfrm>
            <a:off x="-35560" y="5397411"/>
            <a:ext cx="5396400" cy="716369"/>
          </a:xfrm>
          <a:prstGeom prst="rect">
            <a:avLst/>
          </a:prstGeom>
          <a:gradFill rotWithShape="1" flip="none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</p:sp>
      <p:sp>
        <p:nvSpPr>
          <p:cNvPr id="49" name="Text 42"/>
          <p:cNvSpPr/>
          <p:nvPr/>
        </p:nvSpPr>
        <p:spPr>
          <a:xfrm>
            <a:off x="-35560" y="5397411"/>
            <a:ext cx="5396400" cy="7163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0" name="Shape 43"/>
          <p:cNvSpPr/>
          <p:nvPr/>
        </p:nvSpPr>
        <p:spPr>
          <a:xfrm>
            <a:off x="6770835" y="3011170"/>
            <a:ext cx="5396400" cy="716369"/>
          </a:xfrm>
          <a:prstGeom prst="rect">
            <a:avLst/>
          </a:prstGeom>
          <a:gradFill rotWithShape="1" flip="none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</p:sp>
      <p:sp>
        <p:nvSpPr>
          <p:cNvPr id="51" name="Text 44"/>
          <p:cNvSpPr/>
          <p:nvPr/>
        </p:nvSpPr>
        <p:spPr>
          <a:xfrm>
            <a:off x="6770835" y="3011170"/>
            <a:ext cx="5396400" cy="7163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2" name="Shape 45"/>
          <p:cNvSpPr/>
          <p:nvPr/>
        </p:nvSpPr>
        <p:spPr>
          <a:xfrm>
            <a:off x="6770835" y="4601756"/>
            <a:ext cx="5396400" cy="716369"/>
          </a:xfrm>
          <a:prstGeom prst="rect">
            <a:avLst/>
          </a:prstGeom>
          <a:gradFill rotWithShape="1" flip="none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</p:sp>
      <p:sp>
        <p:nvSpPr>
          <p:cNvPr id="53" name="Text 46"/>
          <p:cNvSpPr/>
          <p:nvPr/>
        </p:nvSpPr>
        <p:spPr>
          <a:xfrm>
            <a:off x="6770835" y="4601756"/>
            <a:ext cx="5396400" cy="7163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4" name="Text 47"/>
          <p:cNvSpPr/>
          <p:nvPr/>
        </p:nvSpPr>
        <p:spPr>
          <a:xfrm>
            <a:off x="5519420" y="2275791"/>
            <a:ext cx="772795" cy="6209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02E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55" name="Text 48"/>
          <p:cNvSpPr/>
          <p:nvPr/>
        </p:nvSpPr>
        <p:spPr>
          <a:xfrm>
            <a:off x="6357620" y="2374024"/>
            <a:ext cx="5736590" cy="406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E4B2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Active Load Challenge</a:t>
            </a:r>
            <a:endParaRPr lang="en-US" sz="1600" dirty="0"/>
          </a:p>
        </p:txBody>
      </p:sp>
      <p:sp>
        <p:nvSpPr>
          <p:cNvPr id="56" name="Text 49"/>
          <p:cNvSpPr/>
          <p:nvPr/>
        </p:nvSpPr>
        <p:spPr>
          <a:xfrm>
            <a:off x="154940" y="3070811"/>
            <a:ext cx="772795" cy="6209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02E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57" name="Text 50"/>
          <p:cNvSpPr/>
          <p:nvPr/>
        </p:nvSpPr>
        <p:spPr>
          <a:xfrm>
            <a:off x="993140" y="3169044"/>
            <a:ext cx="5708015" cy="406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E4B2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Power Stage Topology</a:t>
            </a:r>
            <a:endParaRPr lang="en-US" sz="1600" dirty="0"/>
          </a:p>
        </p:txBody>
      </p:sp>
      <p:sp>
        <p:nvSpPr>
          <p:cNvPr id="58" name="Text 51"/>
          <p:cNvSpPr/>
          <p:nvPr/>
        </p:nvSpPr>
        <p:spPr>
          <a:xfrm>
            <a:off x="5519420" y="3866466"/>
            <a:ext cx="772795" cy="6209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02E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59" name="Text 52"/>
          <p:cNvSpPr/>
          <p:nvPr/>
        </p:nvSpPr>
        <p:spPr>
          <a:xfrm>
            <a:off x="6357620" y="3964699"/>
            <a:ext cx="5736590" cy="406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E4B2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Dynamic Braking Guard</a:t>
            </a:r>
            <a:endParaRPr lang="en-US" sz="1600" dirty="0"/>
          </a:p>
        </p:txBody>
      </p:sp>
      <p:sp>
        <p:nvSpPr>
          <p:cNvPr id="60" name="Text 53"/>
          <p:cNvSpPr/>
          <p:nvPr/>
        </p:nvSpPr>
        <p:spPr>
          <a:xfrm>
            <a:off x="154940" y="4661486"/>
            <a:ext cx="772795" cy="6209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02E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61" name="Text 54"/>
          <p:cNvSpPr/>
          <p:nvPr/>
        </p:nvSpPr>
        <p:spPr>
          <a:xfrm>
            <a:off x="993140" y="4759719"/>
            <a:ext cx="5690235" cy="406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3E3A1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Scalar Control Scheme</a:t>
            </a:r>
            <a:endParaRPr lang="en-US" sz="1600" dirty="0"/>
          </a:p>
        </p:txBody>
      </p:sp>
      <p:sp>
        <p:nvSpPr>
          <p:cNvPr id="62" name="Text 55"/>
          <p:cNvSpPr/>
          <p:nvPr/>
        </p:nvSpPr>
        <p:spPr>
          <a:xfrm>
            <a:off x="5519420" y="5457141"/>
            <a:ext cx="772795" cy="6209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02E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63" name="Text 56"/>
          <p:cNvSpPr/>
          <p:nvPr/>
        </p:nvSpPr>
        <p:spPr>
          <a:xfrm>
            <a:off x="6357620" y="5555374"/>
            <a:ext cx="5708015" cy="406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3E3A1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Time-Domain Results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rotWithShape="1" flip="none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66165" y="1744345"/>
            <a:ext cx="3230880" cy="3230880"/>
          </a:xfrm>
          <a:prstGeom prst="ellipse">
            <a:avLst/>
          </a:prstGeom>
          <a:gradFill rotWithShape="1" flip="none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066165" y="1744345"/>
            <a:ext cx="3230880" cy="32308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402E7F"/>
          </a:solidFill>
          <a:ln/>
        </p:spPr>
      </p:sp>
      <p:sp>
        <p:nvSpPr>
          <p:cNvPr id="7" name="Text 5"/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402E7F"/>
          </a:solidFill>
          <a:ln/>
        </p:spPr>
      </p:sp>
      <p:sp>
        <p:nvSpPr>
          <p:cNvPr id="9" name="Text 7"/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402E7F"/>
          </a:solidFill>
          <a:ln/>
        </p:spPr>
      </p:sp>
      <p:sp>
        <p:nvSpPr>
          <p:cNvPr id="11" name="Text 9"/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81345" y="1470025"/>
            <a:ext cx="6510655" cy="1731010"/>
          </a:xfrm>
          <a:custGeom>
            <a:avLst/>
            <a:gdLst/>
            <a:ahLst/>
            <a:cxnLst/>
            <a:rect l="l" t="t" r="r" b="b"/>
            <a:pathLst>
              <a:path w="6510655" h="1731010">
                <a:moveTo>
                  <a:pt x="0" y="865505"/>
                </a:moveTo>
                <a:cubicBezTo>
                  <a:pt x="0" y="387350"/>
                  <a:pt x="387350" y="0"/>
                  <a:pt x="865505" y="0"/>
                </a:cubicBezTo>
                <a:lnTo>
                  <a:pt x="6388100" y="0"/>
                </a:lnTo>
                <a:cubicBezTo>
                  <a:pt x="6430010" y="0"/>
                  <a:pt x="6470650" y="3175"/>
                  <a:pt x="6510655" y="8890"/>
                </a:cubicBezTo>
                <a:lnTo>
                  <a:pt x="6510655" y="1722120"/>
                </a:lnTo>
                <a:cubicBezTo>
                  <a:pt x="6470650" y="1727835"/>
                  <a:pt x="6430010" y="1731010"/>
                  <a:pt x="6388100" y="1731010"/>
                </a:cubicBezTo>
                <a:lnTo>
                  <a:pt x="865505" y="1731010"/>
                </a:lnTo>
                <a:cubicBezTo>
                  <a:pt x="387350" y="1731010"/>
                  <a:pt x="0" y="1343660"/>
                  <a:pt x="0" y="865505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81345" y="1470025"/>
            <a:ext cx="6510655" cy="17310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01690" y="1759585"/>
            <a:ext cx="1158240" cy="1158240"/>
          </a:xfrm>
          <a:prstGeom prst="ellipse">
            <a:avLst/>
          </a:prstGeom>
          <a:gradFill rotWithShape="1" flip="none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</p:sp>
      <p:sp>
        <p:nvSpPr>
          <p:cNvPr id="15" name="Text 13"/>
          <p:cNvSpPr/>
          <p:nvPr/>
        </p:nvSpPr>
        <p:spPr>
          <a:xfrm>
            <a:off x="5901690" y="1759585"/>
            <a:ext cx="1158240" cy="11582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81980" y="3608705"/>
            <a:ext cx="6510655" cy="1731010"/>
          </a:xfrm>
          <a:custGeom>
            <a:avLst/>
            <a:gdLst/>
            <a:ahLst/>
            <a:cxnLst/>
            <a:rect l="l" t="t" r="r" b="b"/>
            <a:pathLst>
              <a:path w="6510655" h="1731010">
                <a:moveTo>
                  <a:pt x="0" y="865505"/>
                </a:moveTo>
                <a:cubicBezTo>
                  <a:pt x="0" y="387350"/>
                  <a:pt x="387350" y="0"/>
                  <a:pt x="865505" y="0"/>
                </a:cubicBezTo>
                <a:lnTo>
                  <a:pt x="6388100" y="0"/>
                </a:lnTo>
                <a:cubicBezTo>
                  <a:pt x="6430010" y="0"/>
                  <a:pt x="6470650" y="3175"/>
                  <a:pt x="6510655" y="8890"/>
                </a:cubicBezTo>
                <a:lnTo>
                  <a:pt x="6510655" y="1722120"/>
                </a:lnTo>
                <a:cubicBezTo>
                  <a:pt x="6470650" y="1727835"/>
                  <a:pt x="6430010" y="1731010"/>
                  <a:pt x="6388100" y="1731010"/>
                </a:cubicBezTo>
                <a:lnTo>
                  <a:pt x="865505" y="1731010"/>
                </a:lnTo>
                <a:cubicBezTo>
                  <a:pt x="387350" y="1731010"/>
                  <a:pt x="0" y="1343660"/>
                  <a:pt x="0" y="865505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81980" y="3608705"/>
            <a:ext cx="6510655" cy="17310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02325" y="3898265"/>
            <a:ext cx="1158240" cy="1158240"/>
          </a:xfrm>
          <a:prstGeom prst="ellipse">
            <a:avLst/>
          </a:prstGeom>
          <a:gradFill rotWithShape="1" flip="none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</p:sp>
      <p:sp>
        <p:nvSpPr>
          <p:cNvPr id="19" name="Text 17"/>
          <p:cNvSpPr/>
          <p:nvPr/>
        </p:nvSpPr>
        <p:spPr>
          <a:xfrm>
            <a:off x="5902325" y="3898265"/>
            <a:ext cx="1158240" cy="11582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80340" y="3105785"/>
            <a:ext cx="5140960" cy="6464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80340" y="3105785"/>
            <a:ext cx="5140960" cy="646430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b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20740" y="1971040"/>
            <a:ext cx="1092200" cy="7556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09180" y="1889760"/>
            <a:ext cx="3545840" cy="10223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1E1C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Four-Quadrant Map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21375" y="4109720"/>
            <a:ext cx="1092200" cy="7556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09815" y="4028440"/>
            <a:ext cx="3545840" cy="4889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1E1C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rotWithShape="1" flip="none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rotWithShape="1" flip="none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280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5280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3665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665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2049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42049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0434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0434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8818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98818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7203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7203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1655" y="2687320"/>
            <a:ext cx="11172825" cy="23069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41655" y="2687320"/>
            <a:ext cx="11172825" cy="23069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Active Load Challenge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515235" y="1350010"/>
            <a:ext cx="7161530" cy="1219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rotWithShape="1" flip="none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8-15:08:29-d2v81rdnfo2stf9dkdb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4000" y="2362200"/>
            <a:ext cx="4597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Gravity-Driven Load Dynamics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54000" y="3581400"/>
            <a:ext cx="447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hoist presents a unique control challenge: it is an </a:t>
            </a:r>
            <a:pPr>
              <a:lnSpc>
                <a:spcPct val="130000"/>
              </a:lnSpc>
            </a:pPr>
            <a:r>
              <a:rPr lang="en-US" sz="1600" b="1" dirty="0">
                <a:solidFill>
                  <a:srgbClr val="A95E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active load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governed by gravity, demanding bidirectional power flow.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927600" y="2057400"/>
            <a:ext cx="7010400" cy="1270000"/>
          </a:xfrm>
          <a:custGeom>
            <a:avLst/>
            <a:gdLst/>
            <a:ahLst/>
            <a:cxnLst/>
            <a:rect l="l" t="t" r="r" b="b"/>
            <a:pathLst>
              <a:path w="7010400" h="1270000">
                <a:moveTo>
                  <a:pt x="101600" y="0"/>
                </a:moveTo>
                <a:lnTo>
                  <a:pt x="6908800" y="0"/>
                </a:lnTo>
                <a:cubicBezTo>
                  <a:pt x="6964875" y="0"/>
                  <a:pt x="7010400" y="45525"/>
                  <a:pt x="7010400" y="101600"/>
                </a:cubicBezTo>
                <a:lnTo>
                  <a:pt x="7010400" y="1168400"/>
                </a:lnTo>
                <a:cubicBezTo>
                  <a:pt x="7010400" y="1224475"/>
                  <a:pt x="6964875" y="1270000"/>
                  <a:pt x="69088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130800" y="2387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9" name="Shape 6"/>
          <p:cNvSpPr/>
          <p:nvPr/>
        </p:nvSpPr>
        <p:spPr>
          <a:xfrm>
            <a:off x="5321300" y="2540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27754" y="10358"/>
                </a:moveTo>
                <a:cubicBezTo>
                  <a:pt x="120313" y="2917"/>
                  <a:pt x="108228" y="2917"/>
                  <a:pt x="100786" y="10358"/>
                </a:cubicBezTo>
                <a:lnTo>
                  <a:pt x="5536" y="105608"/>
                </a:lnTo>
                <a:cubicBezTo>
                  <a:pt x="-1905" y="113050"/>
                  <a:pt x="-1905" y="125135"/>
                  <a:pt x="5536" y="132576"/>
                </a:cubicBezTo>
                <a:cubicBezTo>
                  <a:pt x="12978" y="140018"/>
                  <a:pt x="25063" y="140018"/>
                  <a:pt x="32504" y="132576"/>
                </a:cubicBezTo>
                <a:lnTo>
                  <a:pt x="95250" y="69830"/>
                </a:lnTo>
                <a:lnTo>
                  <a:pt x="95250" y="290513"/>
                </a:lnTo>
                <a:cubicBezTo>
                  <a:pt x="95250" y="301050"/>
                  <a:pt x="103763" y="309563"/>
                  <a:pt x="114300" y="309563"/>
                </a:cubicBezTo>
                <a:cubicBezTo>
                  <a:pt x="124837" y="309563"/>
                  <a:pt x="133350" y="301050"/>
                  <a:pt x="133350" y="290513"/>
                </a:cubicBezTo>
                <a:lnTo>
                  <a:pt x="133350" y="69830"/>
                </a:lnTo>
                <a:lnTo>
                  <a:pt x="196096" y="132576"/>
                </a:lnTo>
                <a:cubicBezTo>
                  <a:pt x="203537" y="140018"/>
                  <a:pt x="215622" y="140018"/>
                  <a:pt x="223064" y="132576"/>
                </a:cubicBezTo>
                <a:cubicBezTo>
                  <a:pt x="230505" y="125135"/>
                  <a:pt x="230505" y="113050"/>
                  <a:pt x="223064" y="105608"/>
                </a:cubicBezTo>
                <a:lnTo>
                  <a:pt x="127814" y="1035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0" y="2260600"/>
            <a:ext cx="590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8F5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Lifting (Motoring)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943600" y="2616200"/>
            <a:ext cx="5880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motor works </a:t>
            </a:r>
            <a:pPr>
              <a:lnSpc>
                <a:spcPct val="120000"/>
              </a:lnSpc>
            </a:pPr>
            <a:r>
              <a:rPr lang="en-US" sz="140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against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gravity, converting electrical energy to potential energy.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927600" y="3530600"/>
            <a:ext cx="7010400" cy="1270000"/>
          </a:xfrm>
          <a:custGeom>
            <a:avLst/>
            <a:gdLst/>
            <a:ahLst/>
            <a:cxnLst/>
            <a:rect l="l" t="t" r="r" b="b"/>
            <a:pathLst>
              <a:path w="7010400" h="1270000">
                <a:moveTo>
                  <a:pt x="101600" y="0"/>
                </a:moveTo>
                <a:lnTo>
                  <a:pt x="6908800" y="0"/>
                </a:lnTo>
                <a:cubicBezTo>
                  <a:pt x="6964875" y="0"/>
                  <a:pt x="7010400" y="45525"/>
                  <a:pt x="7010400" y="101600"/>
                </a:cubicBezTo>
                <a:lnTo>
                  <a:pt x="7010400" y="1168400"/>
                </a:lnTo>
                <a:cubicBezTo>
                  <a:pt x="7010400" y="1224475"/>
                  <a:pt x="6964875" y="1270000"/>
                  <a:pt x="69088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30800" y="3860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A95EAF"/>
          </a:solidFill>
          <a:ln/>
        </p:spPr>
      </p:sp>
      <p:sp>
        <p:nvSpPr>
          <p:cNvPr id="14" name="Shape 11"/>
          <p:cNvSpPr/>
          <p:nvPr/>
        </p:nvSpPr>
        <p:spPr>
          <a:xfrm>
            <a:off x="5321300" y="40132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00846" y="299204"/>
                </a:moveTo>
                <a:cubicBezTo>
                  <a:pt x="108287" y="306645"/>
                  <a:pt x="120372" y="306645"/>
                  <a:pt x="127814" y="299204"/>
                </a:cubicBezTo>
                <a:lnTo>
                  <a:pt x="223064" y="203954"/>
                </a:lnTo>
                <a:cubicBezTo>
                  <a:pt x="230505" y="196513"/>
                  <a:pt x="230505" y="184428"/>
                  <a:pt x="223064" y="176986"/>
                </a:cubicBezTo>
                <a:cubicBezTo>
                  <a:pt x="215622" y="169545"/>
                  <a:pt x="203537" y="169545"/>
                  <a:pt x="196096" y="176986"/>
                </a:cubicBezTo>
                <a:lnTo>
                  <a:pt x="133350" y="239732"/>
                </a:lnTo>
                <a:lnTo>
                  <a:pt x="133350" y="19050"/>
                </a:lnTo>
                <a:cubicBezTo>
                  <a:pt x="133350" y="8513"/>
                  <a:pt x="124837" y="0"/>
                  <a:pt x="114300" y="0"/>
                </a:cubicBezTo>
                <a:cubicBezTo>
                  <a:pt x="103763" y="0"/>
                  <a:pt x="95250" y="8513"/>
                  <a:pt x="95250" y="19050"/>
                </a:cubicBezTo>
                <a:lnTo>
                  <a:pt x="95250" y="239732"/>
                </a:lnTo>
                <a:lnTo>
                  <a:pt x="32504" y="176986"/>
                </a:lnTo>
                <a:cubicBezTo>
                  <a:pt x="25063" y="169545"/>
                  <a:pt x="12978" y="169545"/>
                  <a:pt x="5536" y="176986"/>
                </a:cubicBezTo>
                <a:cubicBezTo>
                  <a:pt x="-1905" y="184428"/>
                  <a:pt x="-1905" y="196513"/>
                  <a:pt x="5536" y="203954"/>
                </a:cubicBezTo>
                <a:lnTo>
                  <a:pt x="100786" y="29920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0" y="3733800"/>
            <a:ext cx="590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A95E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Lowering (Regeneration)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43600" y="4089400"/>
            <a:ext cx="5880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Gravity pulls the load; the motor must </a:t>
            </a:r>
            <a:pPr>
              <a:lnSpc>
                <a:spcPct val="120000"/>
              </a:lnSpc>
            </a:pPr>
            <a:r>
              <a:rPr lang="en-US" sz="140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brake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 control descent, acting as a generator.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rotWithShape="1" flip="none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rotWithShape="1" flip="none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280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5280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3665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665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2049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42049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0434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0434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8818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98818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7203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7203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1655" y="2687320"/>
            <a:ext cx="11172825" cy="23069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41655" y="2687320"/>
            <a:ext cx="11172825" cy="23069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Power Stage Topology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515235" y="1350010"/>
            <a:ext cx="7161530" cy="1219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rotWithShape="1" flip="none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8-15:08:29-d2v81rdnfo2stf9dkdb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02287" y="889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Simulink Diagram </a:t>
            </a:r>
            <a:endParaRPr lang="en-US" sz="1600" dirty="0"/>
          </a:p>
        </p:txBody>
      </p:sp>
      <p:pic>
        <p:nvPicPr>
          <p:cNvPr id="6" name="Image 1" descr="https://kimi-img.moonshot.cn/pub/slides/25-12-10-06:01:13-d4s9oaf6o68nf3efdf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48" y="1573825"/>
            <a:ext cx="12003759" cy="5077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rotWithShape="1" flip="none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8-15:08:29-d2v81rdnfo2stf9dkdb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8750" y="20320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AC-DC-AC Conversion Chain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995680" y="28956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D3B9D7">
              <a:alpha val="37647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1303655" y="3175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14300" y="-28575"/>
                </a:moveTo>
                <a:cubicBezTo>
                  <a:pt x="130106" y="-28575"/>
                  <a:pt x="142875" y="-15806"/>
                  <a:pt x="142875" y="0"/>
                </a:cubicBezTo>
                <a:lnTo>
                  <a:pt x="142875" y="85725"/>
                </a:lnTo>
                <a:lnTo>
                  <a:pt x="257175" y="85725"/>
                </a:lnTo>
                <a:lnTo>
                  <a:pt x="257175" y="0"/>
                </a:lnTo>
                <a:cubicBezTo>
                  <a:pt x="257175" y="-15806"/>
                  <a:pt x="269944" y="-28575"/>
                  <a:pt x="285750" y="-28575"/>
                </a:cubicBezTo>
                <a:cubicBezTo>
                  <a:pt x="301556" y="-28575"/>
                  <a:pt x="314325" y="-15806"/>
                  <a:pt x="314325" y="0"/>
                </a:cubicBezTo>
                <a:lnTo>
                  <a:pt x="314325" y="85725"/>
                </a:lnTo>
                <a:lnTo>
                  <a:pt x="371475" y="85725"/>
                </a:lnTo>
                <a:cubicBezTo>
                  <a:pt x="387281" y="85725"/>
                  <a:pt x="400050" y="98494"/>
                  <a:pt x="400050" y="114300"/>
                </a:cubicBezTo>
                <a:cubicBezTo>
                  <a:pt x="400050" y="130106"/>
                  <a:pt x="387281" y="142875"/>
                  <a:pt x="371475" y="142875"/>
                </a:cubicBezTo>
                <a:lnTo>
                  <a:pt x="371475" y="200025"/>
                </a:lnTo>
                <a:cubicBezTo>
                  <a:pt x="371475" y="284946"/>
                  <a:pt x="309682" y="355491"/>
                  <a:pt x="228600" y="369064"/>
                </a:cubicBezTo>
                <a:lnTo>
                  <a:pt x="228600" y="428625"/>
                </a:lnTo>
                <a:cubicBezTo>
                  <a:pt x="228600" y="444431"/>
                  <a:pt x="215831" y="457200"/>
                  <a:pt x="200025" y="457200"/>
                </a:cubicBezTo>
                <a:cubicBezTo>
                  <a:pt x="184219" y="457200"/>
                  <a:pt x="171450" y="444431"/>
                  <a:pt x="171450" y="428625"/>
                </a:cubicBezTo>
                <a:lnTo>
                  <a:pt x="171450" y="369064"/>
                </a:lnTo>
                <a:cubicBezTo>
                  <a:pt x="90368" y="355491"/>
                  <a:pt x="28575" y="284946"/>
                  <a:pt x="28575" y="200025"/>
                </a:cubicBezTo>
                <a:lnTo>
                  <a:pt x="28575" y="142875"/>
                </a:lnTo>
                <a:cubicBezTo>
                  <a:pt x="12769" y="142875"/>
                  <a:pt x="0" y="130106"/>
                  <a:pt x="0" y="114300"/>
                </a:cubicBezTo>
                <a:cubicBezTo>
                  <a:pt x="0" y="98494"/>
                  <a:pt x="12769" y="85725"/>
                  <a:pt x="28575" y="85725"/>
                </a:cubicBezTo>
                <a:lnTo>
                  <a:pt x="85725" y="85725"/>
                </a:lnTo>
                <a:lnTo>
                  <a:pt x="85725" y="0"/>
                </a:lnTo>
                <a:cubicBezTo>
                  <a:pt x="85725" y="-15806"/>
                  <a:pt x="98494" y="-28575"/>
                  <a:pt x="114300" y="-28575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8" name="Text 5"/>
          <p:cNvSpPr/>
          <p:nvPr/>
        </p:nvSpPr>
        <p:spPr>
          <a:xfrm>
            <a:off x="1262168" y="4013200"/>
            <a:ext cx="48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Grid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95468" y="4318000"/>
            <a:ext cx="10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500V, 50Hz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Stiff Source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651760" y="3835400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0"/>
                </a:moveTo>
                <a:lnTo>
                  <a:pt x="0" y="0"/>
                </a:lnTo>
                <a:lnTo>
                  <a:pt x="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3B9D7"/>
          </a:solidFill>
          <a:ln/>
        </p:spPr>
      </p:sp>
      <p:sp>
        <p:nvSpPr>
          <p:cNvPr id="11" name="Shape 8"/>
          <p:cNvSpPr/>
          <p:nvPr/>
        </p:nvSpPr>
        <p:spPr>
          <a:xfrm>
            <a:off x="3291840" y="28956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D3B9D7">
              <a:alpha val="37647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3571240" y="317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85725"/>
                </a:moveTo>
                <a:cubicBezTo>
                  <a:pt x="57150" y="69919"/>
                  <a:pt x="69919" y="57150"/>
                  <a:pt x="85725" y="57150"/>
                </a:cubicBezTo>
                <a:lnTo>
                  <a:pt x="228600" y="57150"/>
                </a:lnTo>
                <a:cubicBezTo>
                  <a:pt x="244406" y="57150"/>
                  <a:pt x="257175" y="69919"/>
                  <a:pt x="257175" y="85725"/>
                </a:cubicBezTo>
                <a:lnTo>
                  <a:pt x="257175" y="342900"/>
                </a:lnTo>
                <a:lnTo>
                  <a:pt x="342900" y="342900"/>
                </a:lnTo>
                <a:lnTo>
                  <a:pt x="342900" y="228600"/>
                </a:lnTo>
                <a:cubicBezTo>
                  <a:pt x="342900" y="212794"/>
                  <a:pt x="355669" y="200025"/>
                  <a:pt x="371475" y="200025"/>
                </a:cubicBezTo>
                <a:lnTo>
                  <a:pt x="428625" y="200025"/>
                </a:lnTo>
                <a:cubicBezTo>
                  <a:pt x="444431" y="200025"/>
                  <a:pt x="457200" y="212794"/>
                  <a:pt x="457200" y="228600"/>
                </a:cubicBezTo>
                <a:cubicBezTo>
                  <a:pt x="457200" y="244406"/>
                  <a:pt x="444431" y="257175"/>
                  <a:pt x="428625" y="257175"/>
                </a:cubicBezTo>
                <a:lnTo>
                  <a:pt x="400050" y="257175"/>
                </a:lnTo>
                <a:lnTo>
                  <a:pt x="400050" y="371475"/>
                </a:lnTo>
                <a:cubicBezTo>
                  <a:pt x="400050" y="387281"/>
                  <a:pt x="387281" y="400050"/>
                  <a:pt x="371475" y="400050"/>
                </a:cubicBezTo>
                <a:lnTo>
                  <a:pt x="228600" y="400050"/>
                </a:lnTo>
                <a:cubicBezTo>
                  <a:pt x="212794" y="400050"/>
                  <a:pt x="200025" y="387281"/>
                  <a:pt x="200025" y="371475"/>
                </a:cubicBezTo>
                <a:lnTo>
                  <a:pt x="200025" y="114300"/>
                </a:lnTo>
                <a:lnTo>
                  <a:pt x="114300" y="114300"/>
                </a:lnTo>
                <a:lnTo>
                  <a:pt x="114300" y="228600"/>
                </a:lnTo>
                <a:cubicBezTo>
                  <a:pt x="114300" y="244406"/>
                  <a:pt x="101531" y="257175"/>
                  <a:pt x="85725" y="257175"/>
                </a:cubicBezTo>
                <a:lnTo>
                  <a:pt x="28575" y="257175"/>
                </a:lnTo>
                <a:cubicBezTo>
                  <a:pt x="12769" y="257175"/>
                  <a:pt x="0" y="244406"/>
                  <a:pt x="0" y="228600"/>
                </a:cubicBezTo>
                <a:cubicBezTo>
                  <a:pt x="0" y="212794"/>
                  <a:pt x="12769" y="200025"/>
                  <a:pt x="28575" y="200025"/>
                </a:cubicBezTo>
                <a:lnTo>
                  <a:pt x="57150" y="200025"/>
                </a:lnTo>
                <a:lnTo>
                  <a:pt x="57150" y="85725"/>
                </a:ln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13" name="Text 10"/>
          <p:cNvSpPr/>
          <p:nvPr/>
        </p:nvSpPr>
        <p:spPr>
          <a:xfrm>
            <a:off x="3361055" y="4013200"/>
            <a:ext cx="8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Rectifier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251200" y="4318000"/>
            <a:ext cx="1092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Uncontrolled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Diode Bridge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947920" y="3835400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0"/>
                </a:moveTo>
                <a:lnTo>
                  <a:pt x="0" y="0"/>
                </a:lnTo>
                <a:lnTo>
                  <a:pt x="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3B9D7"/>
          </a:solidFill>
          <a:ln/>
        </p:spPr>
      </p:sp>
      <p:sp>
        <p:nvSpPr>
          <p:cNvPr id="16" name="Shape 13"/>
          <p:cNvSpPr/>
          <p:nvPr/>
        </p:nvSpPr>
        <p:spPr>
          <a:xfrm>
            <a:off x="5588000" y="28956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D3B9D7">
              <a:alpha val="37647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5810250" y="31750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471488" y="114300"/>
                </a:moveTo>
                <a:cubicBezTo>
                  <a:pt x="479346" y="114300"/>
                  <a:pt x="485775" y="120729"/>
                  <a:pt x="485775" y="128588"/>
                </a:cubicBezTo>
                <a:lnTo>
                  <a:pt x="485775" y="328613"/>
                </a:lnTo>
                <a:cubicBezTo>
                  <a:pt x="485775" y="336471"/>
                  <a:pt x="479346" y="342900"/>
                  <a:pt x="471488" y="342900"/>
                </a:cubicBezTo>
                <a:lnTo>
                  <a:pt x="100013" y="342900"/>
                </a:lnTo>
                <a:cubicBezTo>
                  <a:pt x="92154" y="342900"/>
                  <a:pt x="85725" y="336471"/>
                  <a:pt x="85725" y="328613"/>
                </a:cubicBezTo>
                <a:lnTo>
                  <a:pt x="85725" y="128588"/>
                </a:lnTo>
                <a:cubicBezTo>
                  <a:pt x="85725" y="120729"/>
                  <a:pt x="92154" y="114300"/>
                  <a:pt x="100013" y="114300"/>
                </a:cubicBezTo>
                <a:lnTo>
                  <a:pt x="471488" y="114300"/>
                </a:lnTo>
                <a:close/>
                <a:moveTo>
                  <a:pt x="100013" y="57150"/>
                </a:moveTo>
                <a:cubicBezTo>
                  <a:pt x="60543" y="57150"/>
                  <a:pt x="28575" y="89118"/>
                  <a:pt x="28575" y="128588"/>
                </a:cubicBezTo>
                <a:lnTo>
                  <a:pt x="28575" y="328613"/>
                </a:lnTo>
                <a:cubicBezTo>
                  <a:pt x="28575" y="368082"/>
                  <a:pt x="60543" y="400050"/>
                  <a:pt x="100013" y="400050"/>
                </a:cubicBezTo>
                <a:lnTo>
                  <a:pt x="471488" y="400050"/>
                </a:lnTo>
                <a:cubicBezTo>
                  <a:pt x="510957" y="400050"/>
                  <a:pt x="542925" y="368082"/>
                  <a:pt x="542925" y="328613"/>
                </a:cubicBezTo>
                <a:lnTo>
                  <a:pt x="542925" y="285750"/>
                </a:lnTo>
                <a:cubicBezTo>
                  <a:pt x="558731" y="285750"/>
                  <a:pt x="571500" y="272981"/>
                  <a:pt x="571500" y="257175"/>
                </a:cubicBezTo>
                <a:lnTo>
                  <a:pt x="571500" y="200025"/>
                </a:lnTo>
                <a:cubicBezTo>
                  <a:pt x="571500" y="184219"/>
                  <a:pt x="558731" y="171450"/>
                  <a:pt x="542925" y="171450"/>
                </a:cubicBezTo>
                <a:lnTo>
                  <a:pt x="542925" y="128588"/>
                </a:lnTo>
                <a:cubicBezTo>
                  <a:pt x="542925" y="89118"/>
                  <a:pt x="510957" y="57150"/>
                  <a:pt x="471488" y="57150"/>
                </a:cubicBezTo>
                <a:lnTo>
                  <a:pt x="100013" y="57150"/>
                </a:lnTo>
                <a:close/>
                <a:moveTo>
                  <a:pt x="150019" y="157163"/>
                </a:moveTo>
                <a:cubicBezTo>
                  <a:pt x="138142" y="157163"/>
                  <a:pt x="128588" y="166717"/>
                  <a:pt x="128588" y="178594"/>
                </a:cubicBezTo>
                <a:lnTo>
                  <a:pt x="128588" y="278606"/>
                </a:lnTo>
                <a:cubicBezTo>
                  <a:pt x="128588" y="290483"/>
                  <a:pt x="138142" y="300038"/>
                  <a:pt x="150019" y="300038"/>
                </a:cubicBezTo>
                <a:lnTo>
                  <a:pt x="278606" y="300038"/>
                </a:lnTo>
                <a:cubicBezTo>
                  <a:pt x="290483" y="300038"/>
                  <a:pt x="300038" y="290483"/>
                  <a:pt x="300038" y="278606"/>
                </a:cubicBezTo>
                <a:lnTo>
                  <a:pt x="300038" y="178594"/>
                </a:lnTo>
                <a:cubicBezTo>
                  <a:pt x="300038" y="166717"/>
                  <a:pt x="290483" y="157163"/>
                  <a:pt x="278606" y="157163"/>
                </a:cubicBezTo>
                <a:lnTo>
                  <a:pt x="150019" y="157163"/>
                </a:ln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18" name="Text 15"/>
          <p:cNvSpPr/>
          <p:nvPr/>
        </p:nvSpPr>
        <p:spPr>
          <a:xfrm>
            <a:off x="5694045" y="4013200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DC Link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668857" y="4318000"/>
            <a:ext cx="850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2200 µF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Capacitor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244080" y="3835400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0"/>
                </a:moveTo>
                <a:lnTo>
                  <a:pt x="0" y="0"/>
                </a:lnTo>
                <a:lnTo>
                  <a:pt x="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3B9D7"/>
          </a:solidFill>
          <a:ln/>
        </p:spPr>
      </p:sp>
      <p:sp>
        <p:nvSpPr>
          <p:cNvPr id="21" name="Shape 18"/>
          <p:cNvSpPr/>
          <p:nvPr/>
        </p:nvSpPr>
        <p:spPr>
          <a:xfrm>
            <a:off x="7884160" y="28956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D3B9D7">
              <a:alpha val="37647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8163560" y="317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7163" y="21431"/>
                </a:moveTo>
                <a:cubicBezTo>
                  <a:pt x="157163" y="9555"/>
                  <a:pt x="147608" y="0"/>
                  <a:pt x="135731" y="0"/>
                </a:cubicBezTo>
                <a:cubicBezTo>
                  <a:pt x="123855" y="0"/>
                  <a:pt x="114300" y="9555"/>
                  <a:pt x="114300" y="21431"/>
                </a:cubicBezTo>
                <a:lnTo>
                  <a:pt x="114300" y="57150"/>
                </a:lnTo>
                <a:cubicBezTo>
                  <a:pt x="82778" y="57150"/>
                  <a:pt x="57150" y="82778"/>
                  <a:pt x="57150" y="114300"/>
                </a:cubicBezTo>
                <a:lnTo>
                  <a:pt x="21431" y="114300"/>
                </a:lnTo>
                <a:cubicBezTo>
                  <a:pt x="9555" y="114300"/>
                  <a:pt x="0" y="123855"/>
                  <a:pt x="0" y="135731"/>
                </a:cubicBezTo>
                <a:cubicBezTo>
                  <a:pt x="0" y="147608"/>
                  <a:pt x="9555" y="157163"/>
                  <a:pt x="21431" y="157163"/>
                </a:cubicBezTo>
                <a:lnTo>
                  <a:pt x="57150" y="157163"/>
                </a:lnTo>
                <a:lnTo>
                  <a:pt x="57150" y="207169"/>
                </a:lnTo>
                <a:lnTo>
                  <a:pt x="21431" y="207169"/>
                </a:lnTo>
                <a:cubicBezTo>
                  <a:pt x="9555" y="207169"/>
                  <a:pt x="0" y="216724"/>
                  <a:pt x="0" y="228600"/>
                </a:cubicBezTo>
                <a:cubicBezTo>
                  <a:pt x="0" y="240476"/>
                  <a:pt x="9555" y="250031"/>
                  <a:pt x="21431" y="250031"/>
                </a:cubicBezTo>
                <a:lnTo>
                  <a:pt x="57150" y="250031"/>
                </a:lnTo>
                <a:lnTo>
                  <a:pt x="57150" y="300038"/>
                </a:lnTo>
                <a:lnTo>
                  <a:pt x="21431" y="300038"/>
                </a:lnTo>
                <a:cubicBezTo>
                  <a:pt x="9555" y="300038"/>
                  <a:pt x="0" y="309592"/>
                  <a:pt x="0" y="321469"/>
                </a:cubicBezTo>
                <a:cubicBezTo>
                  <a:pt x="0" y="333345"/>
                  <a:pt x="9555" y="342900"/>
                  <a:pt x="21431" y="342900"/>
                </a:cubicBezTo>
                <a:lnTo>
                  <a:pt x="57150" y="342900"/>
                </a:lnTo>
                <a:cubicBezTo>
                  <a:pt x="57150" y="374422"/>
                  <a:pt x="82778" y="400050"/>
                  <a:pt x="114300" y="400050"/>
                </a:cubicBezTo>
                <a:lnTo>
                  <a:pt x="114300" y="435769"/>
                </a:lnTo>
                <a:cubicBezTo>
                  <a:pt x="114300" y="447645"/>
                  <a:pt x="123855" y="457200"/>
                  <a:pt x="135731" y="457200"/>
                </a:cubicBezTo>
                <a:cubicBezTo>
                  <a:pt x="147608" y="457200"/>
                  <a:pt x="157163" y="447645"/>
                  <a:pt x="157163" y="435769"/>
                </a:cubicBezTo>
                <a:lnTo>
                  <a:pt x="157163" y="400050"/>
                </a:lnTo>
                <a:lnTo>
                  <a:pt x="207169" y="400050"/>
                </a:lnTo>
                <a:lnTo>
                  <a:pt x="207169" y="435769"/>
                </a:lnTo>
                <a:cubicBezTo>
                  <a:pt x="207169" y="447645"/>
                  <a:pt x="216724" y="457200"/>
                  <a:pt x="228600" y="457200"/>
                </a:cubicBezTo>
                <a:cubicBezTo>
                  <a:pt x="240476" y="457200"/>
                  <a:pt x="250031" y="447645"/>
                  <a:pt x="250031" y="435769"/>
                </a:cubicBezTo>
                <a:lnTo>
                  <a:pt x="250031" y="400050"/>
                </a:lnTo>
                <a:lnTo>
                  <a:pt x="300038" y="400050"/>
                </a:lnTo>
                <a:lnTo>
                  <a:pt x="300038" y="435769"/>
                </a:lnTo>
                <a:cubicBezTo>
                  <a:pt x="300038" y="447645"/>
                  <a:pt x="309592" y="457200"/>
                  <a:pt x="321469" y="457200"/>
                </a:cubicBezTo>
                <a:cubicBezTo>
                  <a:pt x="333345" y="457200"/>
                  <a:pt x="342900" y="447645"/>
                  <a:pt x="342900" y="435769"/>
                </a:cubicBezTo>
                <a:lnTo>
                  <a:pt x="342900" y="400050"/>
                </a:lnTo>
                <a:cubicBezTo>
                  <a:pt x="374422" y="400050"/>
                  <a:pt x="400050" y="374422"/>
                  <a:pt x="400050" y="342900"/>
                </a:cubicBezTo>
                <a:lnTo>
                  <a:pt x="435769" y="342900"/>
                </a:lnTo>
                <a:cubicBezTo>
                  <a:pt x="447645" y="342900"/>
                  <a:pt x="457200" y="333345"/>
                  <a:pt x="457200" y="321469"/>
                </a:cubicBezTo>
                <a:cubicBezTo>
                  <a:pt x="457200" y="309592"/>
                  <a:pt x="447645" y="300038"/>
                  <a:pt x="435769" y="300038"/>
                </a:cubicBezTo>
                <a:lnTo>
                  <a:pt x="400050" y="300038"/>
                </a:lnTo>
                <a:lnTo>
                  <a:pt x="400050" y="250031"/>
                </a:lnTo>
                <a:lnTo>
                  <a:pt x="435769" y="250031"/>
                </a:lnTo>
                <a:cubicBezTo>
                  <a:pt x="447645" y="250031"/>
                  <a:pt x="457200" y="240476"/>
                  <a:pt x="457200" y="228600"/>
                </a:cubicBezTo>
                <a:cubicBezTo>
                  <a:pt x="457200" y="216724"/>
                  <a:pt x="447645" y="207169"/>
                  <a:pt x="435769" y="207169"/>
                </a:cubicBezTo>
                <a:lnTo>
                  <a:pt x="400050" y="207169"/>
                </a:lnTo>
                <a:lnTo>
                  <a:pt x="400050" y="157163"/>
                </a:lnTo>
                <a:lnTo>
                  <a:pt x="435769" y="157163"/>
                </a:lnTo>
                <a:cubicBezTo>
                  <a:pt x="447645" y="157163"/>
                  <a:pt x="457200" y="147608"/>
                  <a:pt x="457200" y="135731"/>
                </a:cubicBezTo>
                <a:cubicBezTo>
                  <a:pt x="457200" y="123855"/>
                  <a:pt x="447645" y="114300"/>
                  <a:pt x="435769" y="114300"/>
                </a:cubicBezTo>
                <a:lnTo>
                  <a:pt x="400050" y="114300"/>
                </a:lnTo>
                <a:cubicBezTo>
                  <a:pt x="400050" y="82778"/>
                  <a:pt x="374422" y="57150"/>
                  <a:pt x="342900" y="57150"/>
                </a:cubicBezTo>
                <a:lnTo>
                  <a:pt x="342900" y="21431"/>
                </a:lnTo>
                <a:cubicBezTo>
                  <a:pt x="342900" y="9555"/>
                  <a:pt x="333345" y="0"/>
                  <a:pt x="321469" y="0"/>
                </a:cubicBezTo>
                <a:cubicBezTo>
                  <a:pt x="309592" y="0"/>
                  <a:pt x="300038" y="9555"/>
                  <a:pt x="300038" y="21431"/>
                </a:cubicBezTo>
                <a:lnTo>
                  <a:pt x="300038" y="57150"/>
                </a:lnTo>
                <a:lnTo>
                  <a:pt x="250031" y="57150"/>
                </a:lnTo>
                <a:lnTo>
                  <a:pt x="250031" y="21431"/>
                </a:lnTo>
                <a:cubicBezTo>
                  <a:pt x="250031" y="9555"/>
                  <a:pt x="240476" y="0"/>
                  <a:pt x="228600" y="0"/>
                </a:cubicBezTo>
                <a:cubicBezTo>
                  <a:pt x="216724" y="0"/>
                  <a:pt x="207169" y="9555"/>
                  <a:pt x="207169" y="21431"/>
                </a:cubicBezTo>
                <a:lnTo>
                  <a:pt x="207169" y="57150"/>
                </a:lnTo>
                <a:lnTo>
                  <a:pt x="157163" y="57150"/>
                </a:lnTo>
                <a:lnTo>
                  <a:pt x="157163" y="21431"/>
                </a:lnTo>
                <a:close/>
                <a:moveTo>
                  <a:pt x="142875" y="114300"/>
                </a:moveTo>
                <a:lnTo>
                  <a:pt x="314325" y="114300"/>
                </a:lnTo>
                <a:cubicBezTo>
                  <a:pt x="330131" y="114300"/>
                  <a:pt x="342900" y="127069"/>
                  <a:pt x="342900" y="142875"/>
                </a:cubicBezTo>
                <a:lnTo>
                  <a:pt x="342900" y="314325"/>
                </a:lnTo>
                <a:cubicBezTo>
                  <a:pt x="342900" y="330131"/>
                  <a:pt x="330131" y="342900"/>
                  <a:pt x="314325" y="342900"/>
                </a:cubicBezTo>
                <a:lnTo>
                  <a:pt x="142875" y="342900"/>
                </a:lnTo>
                <a:cubicBezTo>
                  <a:pt x="127069" y="342900"/>
                  <a:pt x="114300" y="330131"/>
                  <a:pt x="114300" y="314325"/>
                </a:cubicBezTo>
                <a:lnTo>
                  <a:pt x="114300" y="142875"/>
                </a:lnTo>
                <a:cubicBezTo>
                  <a:pt x="114300" y="127069"/>
                  <a:pt x="127069" y="114300"/>
                  <a:pt x="142875" y="114300"/>
                </a:cubicBezTo>
                <a:close/>
                <a:moveTo>
                  <a:pt x="157163" y="157163"/>
                </a:moveTo>
                <a:lnTo>
                  <a:pt x="157163" y="300038"/>
                </a:lnTo>
                <a:lnTo>
                  <a:pt x="300038" y="300038"/>
                </a:lnTo>
                <a:lnTo>
                  <a:pt x="300038" y="157163"/>
                </a:lnTo>
                <a:lnTo>
                  <a:pt x="157163" y="157163"/>
                </a:ln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23" name="Text 20"/>
          <p:cNvSpPr/>
          <p:nvPr/>
        </p:nvSpPr>
        <p:spPr>
          <a:xfrm>
            <a:off x="7984913" y="4013200"/>
            <a:ext cx="81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Inverter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878233" y="4318000"/>
            <a:ext cx="1028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2-Level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IGBT Bridge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540240" y="3835400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0"/>
                </a:moveTo>
                <a:lnTo>
                  <a:pt x="0" y="0"/>
                </a:lnTo>
                <a:lnTo>
                  <a:pt x="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3B9D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180320" y="28956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D3B9D7">
              <a:alpha val="37647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0402570" y="31750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71386" y="187970"/>
                </a:moveTo>
                <a:cubicBezTo>
                  <a:pt x="382280" y="185023"/>
                  <a:pt x="393710" y="190202"/>
                  <a:pt x="398621" y="200293"/>
                </a:cubicBezTo>
                <a:lnTo>
                  <a:pt x="415230" y="233869"/>
                </a:lnTo>
                <a:cubicBezTo>
                  <a:pt x="424428" y="235119"/>
                  <a:pt x="433447" y="237619"/>
                  <a:pt x="441930" y="241102"/>
                </a:cubicBezTo>
                <a:lnTo>
                  <a:pt x="473184" y="220295"/>
                </a:lnTo>
                <a:cubicBezTo>
                  <a:pt x="482560" y="214045"/>
                  <a:pt x="494973" y="215295"/>
                  <a:pt x="502920" y="223242"/>
                </a:cubicBezTo>
                <a:lnTo>
                  <a:pt x="520065" y="240387"/>
                </a:lnTo>
                <a:cubicBezTo>
                  <a:pt x="528012" y="248335"/>
                  <a:pt x="529263" y="260836"/>
                  <a:pt x="523012" y="270123"/>
                </a:cubicBezTo>
                <a:lnTo>
                  <a:pt x="502206" y="301288"/>
                </a:lnTo>
                <a:cubicBezTo>
                  <a:pt x="503902" y="305485"/>
                  <a:pt x="505420" y="309860"/>
                  <a:pt x="506670" y="314414"/>
                </a:cubicBezTo>
                <a:cubicBezTo>
                  <a:pt x="507921" y="318968"/>
                  <a:pt x="508724" y="323433"/>
                  <a:pt x="509349" y="327987"/>
                </a:cubicBezTo>
                <a:lnTo>
                  <a:pt x="543014" y="344597"/>
                </a:lnTo>
                <a:cubicBezTo>
                  <a:pt x="553105" y="349597"/>
                  <a:pt x="558284" y="361027"/>
                  <a:pt x="555337" y="371832"/>
                </a:cubicBezTo>
                <a:lnTo>
                  <a:pt x="549086" y="395228"/>
                </a:lnTo>
                <a:cubicBezTo>
                  <a:pt x="546140" y="406033"/>
                  <a:pt x="536049" y="413355"/>
                  <a:pt x="524798" y="412641"/>
                </a:cubicBezTo>
                <a:lnTo>
                  <a:pt x="487293" y="410230"/>
                </a:lnTo>
                <a:cubicBezTo>
                  <a:pt x="481667" y="417463"/>
                  <a:pt x="475149" y="424160"/>
                  <a:pt x="467737" y="429875"/>
                </a:cubicBezTo>
                <a:lnTo>
                  <a:pt x="470148" y="467291"/>
                </a:lnTo>
                <a:cubicBezTo>
                  <a:pt x="470862" y="478542"/>
                  <a:pt x="463540" y="488722"/>
                  <a:pt x="452735" y="491579"/>
                </a:cubicBezTo>
                <a:lnTo>
                  <a:pt x="429339" y="497830"/>
                </a:lnTo>
                <a:cubicBezTo>
                  <a:pt x="418445" y="500777"/>
                  <a:pt x="407104" y="495598"/>
                  <a:pt x="402104" y="485507"/>
                </a:cubicBezTo>
                <a:lnTo>
                  <a:pt x="385495" y="451931"/>
                </a:lnTo>
                <a:cubicBezTo>
                  <a:pt x="376297" y="450681"/>
                  <a:pt x="367278" y="448181"/>
                  <a:pt x="358795" y="444698"/>
                </a:cubicBezTo>
                <a:lnTo>
                  <a:pt x="327541" y="465505"/>
                </a:lnTo>
                <a:cubicBezTo>
                  <a:pt x="318165" y="471755"/>
                  <a:pt x="305753" y="470505"/>
                  <a:pt x="297805" y="462558"/>
                </a:cubicBezTo>
                <a:lnTo>
                  <a:pt x="280660" y="445413"/>
                </a:lnTo>
                <a:cubicBezTo>
                  <a:pt x="272713" y="437465"/>
                  <a:pt x="271463" y="425053"/>
                  <a:pt x="277713" y="415677"/>
                </a:cubicBezTo>
                <a:lnTo>
                  <a:pt x="298519" y="384423"/>
                </a:lnTo>
                <a:cubicBezTo>
                  <a:pt x="296823" y="380226"/>
                  <a:pt x="295305" y="375851"/>
                  <a:pt x="294055" y="371296"/>
                </a:cubicBezTo>
                <a:cubicBezTo>
                  <a:pt x="292804" y="366742"/>
                  <a:pt x="292001" y="362188"/>
                  <a:pt x="291376" y="357723"/>
                </a:cubicBezTo>
                <a:lnTo>
                  <a:pt x="257711" y="341114"/>
                </a:lnTo>
                <a:cubicBezTo>
                  <a:pt x="247620" y="336113"/>
                  <a:pt x="242530" y="324683"/>
                  <a:pt x="245388" y="313879"/>
                </a:cubicBezTo>
                <a:lnTo>
                  <a:pt x="251639" y="290483"/>
                </a:lnTo>
                <a:cubicBezTo>
                  <a:pt x="254585" y="279678"/>
                  <a:pt x="264676" y="272355"/>
                  <a:pt x="275927" y="273070"/>
                </a:cubicBezTo>
                <a:lnTo>
                  <a:pt x="313343" y="275481"/>
                </a:lnTo>
                <a:cubicBezTo>
                  <a:pt x="318968" y="268248"/>
                  <a:pt x="325487" y="261551"/>
                  <a:pt x="332899" y="255836"/>
                </a:cubicBezTo>
                <a:lnTo>
                  <a:pt x="330488" y="218509"/>
                </a:lnTo>
                <a:cubicBezTo>
                  <a:pt x="329773" y="207258"/>
                  <a:pt x="337096" y="197078"/>
                  <a:pt x="347901" y="194221"/>
                </a:cubicBezTo>
                <a:lnTo>
                  <a:pt x="371296" y="187970"/>
                </a:lnTo>
                <a:close/>
                <a:moveTo>
                  <a:pt x="400407" y="303609"/>
                </a:moveTo>
                <a:cubicBezTo>
                  <a:pt x="378722" y="303634"/>
                  <a:pt x="361137" y="321260"/>
                  <a:pt x="361161" y="342945"/>
                </a:cubicBezTo>
                <a:cubicBezTo>
                  <a:pt x="361186" y="364630"/>
                  <a:pt x="378811" y="382215"/>
                  <a:pt x="400496" y="382191"/>
                </a:cubicBezTo>
                <a:cubicBezTo>
                  <a:pt x="422182" y="382166"/>
                  <a:pt x="439767" y="364540"/>
                  <a:pt x="439742" y="342855"/>
                </a:cubicBezTo>
                <a:cubicBezTo>
                  <a:pt x="439718" y="321170"/>
                  <a:pt x="422092" y="303585"/>
                  <a:pt x="400407" y="303609"/>
                </a:cubicBezTo>
                <a:close/>
                <a:moveTo>
                  <a:pt x="200829" y="-40630"/>
                </a:moveTo>
                <a:lnTo>
                  <a:pt x="224224" y="-34379"/>
                </a:lnTo>
                <a:cubicBezTo>
                  <a:pt x="235029" y="-31433"/>
                  <a:pt x="242352" y="-21253"/>
                  <a:pt x="241637" y="-10091"/>
                </a:cubicBezTo>
                <a:lnTo>
                  <a:pt x="239226" y="27236"/>
                </a:lnTo>
                <a:cubicBezTo>
                  <a:pt x="246638" y="32951"/>
                  <a:pt x="253157" y="39559"/>
                  <a:pt x="258782" y="46881"/>
                </a:cubicBezTo>
                <a:lnTo>
                  <a:pt x="296287" y="44470"/>
                </a:lnTo>
                <a:cubicBezTo>
                  <a:pt x="307449" y="43755"/>
                  <a:pt x="317629" y="51078"/>
                  <a:pt x="320576" y="61883"/>
                </a:cubicBezTo>
                <a:lnTo>
                  <a:pt x="326827" y="85279"/>
                </a:lnTo>
                <a:cubicBezTo>
                  <a:pt x="329684" y="96083"/>
                  <a:pt x="324594" y="107513"/>
                  <a:pt x="314504" y="112514"/>
                </a:cubicBezTo>
                <a:lnTo>
                  <a:pt x="280839" y="129123"/>
                </a:lnTo>
                <a:cubicBezTo>
                  <a:pt x="280214" y="133677"/>
                  <a:pt x="279321" y="138232"/>
                  <a:pt x="278160" y="142696"/>
                </a:cubicBezTo>
                <a:cubicBezTo>
                  <a:pt x="276999" y="147161"/>
                  <a:pt x="275392" y="151626"/>
                  <a:pt x="273695" y="155823"/>
                </a:cubicBezTo>
                <a:lnTo>
                  <a:pt x="294501" y="187077"/>
                </a:lnTo>
                <a:cubicBezTo>
                  <a:pt x="300752" y="196453"/>
                  <a:pt x="299502" y="208865"/>
                  <a:pt x="291554" y="216813"/>
                </a:cubicBezTo>
                <a:lnTo>
                  <a:pt x="274409" y="233958"/>
                </a:lnTo>
                <a:cubicBezTo>
                  <a:pt x="266462" y="241905"/>
                  <a:pt x="254050" y="243155"/>
                  <a:pt x="244673" y="236905"/>
                </a:cubicBezTo>
                <a:lnTo>
                  <a:pt x="213420" y="216098"/>
                </a:lnTo>
                <a:cubicBezTo>
                  <a:pt x="204936" y="219581"/>
                  <a:pt x="195917" y="222081"/>
                  <a:pt x="186720" y="223331"/>
                </a:cubicBezTo>
                <a:lnTo>
                  <a:pt x="170111" y="256907"/>
                </a:lnTo>
                <a:cubicBezTo>
                  <a:pt x="165110" y="266998"/>
                  <a:pt x="153680" y="272088"/>
                  <a:pt x="142875" y="269230"/>
                </a:cubicBezTo>
                <a:lnTo>
                  <a:pt x="119479" y="262979"/>
                </a:lnTo>
                <a:cubicBezTo>
                  <a:pt x="108585" y="260033"/>
                  <a:pt x="101352" y="249853"/>
                  <a:pt x="102066" y="238691"/>
                </a:cubicBezTo>
                <a:lnTo>
                  <a:pt x="104477" y="201275"/>
                </a:lnTo>
                <a:cubicBezTo>
                  <a:pt x="97066" y="195560"/>
                  <a:pt x="90547" y="188952"/>
                  <a:pt x="84921" y="181630"/>
                </a:cubicBezTo>
                <a:lnTo>
                  <a:pt x="47417" y="184041"/>
                </a:lnTo>
                <a:cubicBezTo>
                  <a:pt x="36255" y="184755"/>
                  <a:pt x="26075" y="177433"/>
                  <a:pt x="23128" y="166628"/>
                </a:cubicBezTo>
                <a:lnTo>
                  <a:pt x="16877" y="143232"/>
                </a:lnTo>
                <a:cubicBezTo>
                  <a:pt x="14020" y="132427"/>
                  <a:pt x="19110" y="120997"/>
                  <a:pt x="29200" y="115997"/>
                </a:cubicBezTo>
                <a:lnTo>
                  <a:pt x="62865" y="99387"/>
                </a:lnTo>
                <a:cubicBezTo>
                  <a:pt x="63490" y="94833"/>
                  <a:pt x="64383" y="90368"/>
                  <a:pt x="65544" y="85814"/>
                </a:cubicBezTo>
                <a:cubicBezTo>
                  <a:pt x="66794" y="81260"/>
                  <a:pt x="68223" y="76885"/>
                  <a:pt x="70009" y="72688"/>
                </a:cubicBezTo>
                <a:lnTo>
                  <a:pt x="49203" y="41523"/>
                </a:lnTo>
                <a:cubicBezTo>
                  <a:pt x="42952" y="32147"/>
                  <a:pt x="44202" y="19735"/>
                  <a:pt x="52149" y="11787"/>
                </a:cubicBezTo>
                <a:lnTo>
                  <a:pt x="69294" y="-5358"/>
                </a:lnTo>
                <a:cubicBezTo>
                  <a:pt x="77242" y="-13305"/>
                  <a:pt x="89654" y="-14555"/>
                  <a:pt x="99030" y="-8305"/>
                </a:cubicBezTo>
                <a:lnTo>
                  <a:pt x="130284" y="12502"/>
                </a:lnTo>
                <a:cubicBezTo>
                  <a:pt x="138767" y="9019"/>
                  <a:pt x="147786" y="6519"/>
                  <a:pt x="156984" y="5269"/>
                </a:cubicBezTo>
                <a:lnTo>
                  <a:pt x="173593" y="-28307"/>
                </a:lnTo>
                <a:cubicBezTo>
                  <a:pt x="178594" y="-38398"/>
                  <a:pt x="189934" y="-43488"/>
                  <a:pt x="200829" y="-40630"/>
                </a:cubicBezTo>
                <a:close/>
                <a:moveTo>
                  <a:pt x="171807" y="75009"/>
                </a:moveTo>
                <a:cubicBezTo>
                  <a:pt x="150122" y="75009"/>
                  <a:pt x="132517" y="92615"/>
                  <a:pt x="132517" y="114300"/>
                </a:cubicBezTo>
                <a:cubicBezTo>
                  <a:pt x="132517" y="135985"/>
                  <a:pt x="150122" y="153591"/>
                  <a:pt x="171807" y="153591"/>
                </a:cubicBezTo>
                <a:cubicBezTo>
                  <a:pt x="193492" y="153591"/>
                  <a:pt x="211098" y="135985"/>
                  <a:pt x="211098" y="114300"/>
                </a:cubicBezTo>
                <a:cubicBezTo>
                  <a:pt x="211098" y="92615"/>
                  <a:pt x="193492" y="75009"/>
                  <a:pt x="171807" y="75009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28" name="Text 25"/>
          <p:cNvSpPr/>
          <p:nvPr/>
        </p:nvSpPr>
        <p:spPr>
          <a:xfrm>
            <a:off x="10362142" y="4013200"/>
            <a:ext cx="64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Motor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0014162" y="4318000"/>
            <a:ext cx="1346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4kW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Induction Motor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rotWithShape="1" flip="none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rotWithShape="1" flip="none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280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5280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3665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665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2049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42049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0434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0434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8818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98818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7203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7203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1655" y="2687320"/>
            <a:ext cx="11172825" cy="23069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41655" y="2687320"/>
            <a:ext cx="11172825" cy="23069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Dynamic Braking Guard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515235" y="1350010"/>
            <a:ext cx="7161530" cy="1219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rotWithShape="1" flip="none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8-15:08:29-d2v81rdnfo2stf9dkdb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4000" y="1727200"/>
            <a:ext cx="572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Braking Chopper Protection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54000" y="2387600"/>
            <a:ext cx="563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unidirectional diode rectifier cannot return energy to the grid. During lowering, the motor acts as a generator, which would cause a dangerous rise in DC bus voltage.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4000" y="3505200"/>
            <a:ext cx="5537200" cy="1625600"/>
          </a:xfrm>
          <a:custGeom>
            <a:avLst/>
            <a:gdLst/>
            <a:ahLst/>
            <a:cxnLst/>
            <a:rect l="l" t="t" r="r" b="b"/>
            <a:pathLst>
              <a:path w="5537200" h="1625600">
                <a:moveTo>
                  <a:pt x="101600" y="0"/>
                </a:moveTo>
                <a:lnTo>
                  <a:pt x="5435600" y="0"/>
                </a:lnTo>
                <a:cubicBezTo>
                  <a:pt x="5491675" y="0"/>
                  <a:pt x="5537200" y="45525"/>
                  <a:pt x="5537200" y="101600"/>
                </a:cubicBezTo>
                <a:lnTo>
                  <a:pt x="5537200" y="1524000"/>
                </a:lnTo>
                <a:cubicBezTo>
                  <a:pt x="5537200" y="1580075"/>
                  <a:pt x="5491675" y="1625600"/>
                  <a:pt x="5435600" y="1625600"/>
                </a:cubicBezTo>
                <a:lnTo>
                  <a:pt x="101600" y="1625600"/>
                </a:lnTo>
                <a:cubicBezTo>
                  <a:pt x="45525" y="1625600"/>
                  <a:pt x="0" y="1580075"/>
                  <a:pt x="0" y="15240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708400"/>
            <a:ext cx="523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A95E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Solution: Dynamic Braking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4013200"/>
            <a:ext cx="523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hysteresis-controlled IGBT chopper and resistor bank act as a safety valve, dissipating excess regenerative energy to protect the DC link components.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853276" y="15748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252115" y="-7367"/>
                </a:moveTo>
                <a:cubicBezTo>
                  <a:pt x="260970" y="-967"/>
                  <a:pt x="264244" y="10641"/>
                  <a:pt x="260226" y="20762"/>
                </a:cubicBezTo>
                <a:lnTo>
                  <a:pt x="201885" y="166688"/>
                </a:lnTo>
                <a:lnTo>
                  <a:pt x="309563" y="166688"/>
                </a:lnTo>
                <a:cubicBezTo>
                  <a:pt x="319608" y="166688"/>
                  <a:pt x="328538" y="172938"/>
                  <a:pt x="331961" y="182389"/>
                </a:cubicBezTo>
                <a:cubicBezTo>
                  <a:pt x="335384" y="191839"/>
                  <a:pt x="332482" y="202406"/>
                  <a:pt x="324817" y="208806"/>
                </a:cubicBezTo>
                <a:lnTo>
                  <a:pt x="110505" y="387400"/>
                </a:lnTo>
                <a:cubicBezTo>
                  <a:pt x="102096" y="394395"/>
                  <a:pt x="90115" y="394767"/>
                  <a:pt x="81260" y="388367"/>
                </a:cubicBezTo>
                <a:cubicBezTo>
                  <a:pt x="72405" y="381967"/>
                  <a:pt x="69131" y="370359"/>
                  <a:pt x="73149" y="360238"/>
                </a:cubicBezTo>
                <a:lnTo>
                  <a:pt x="131490" y="214313"/>
                </a:lnTo>
                <a:lnTo>
                  <a:pt x="23812" y="214313"/>
                </a:lnTo>
                <a:cubicBezTo>
                  <a:pt x="13767" y="214313"/>
                  <a:pt x="4837" y="208062"/>
                  <a:pt x="1414" y="198611"/>
                </a:cubicBezTo>
                <a:cubicBezTo>
                  <a:pt x="-2009" y="189161"/>
                  <a:pt x="893" y="178594"/>
                  <a:pt x="8558" y="172194"/>
                </a:cubicBezTo>
                <a:lnTo>
                  <a:pt x="222870" y="-6400"/>
                </a:lnTo>
                <a:cubicBezTo>
                  <a:pt x="231279" y="-13395"/>
                  <a:pt x="243260" y="-13767"/>
                  <a:pt x="252115" y="-7367"/>
                </a:cubicBezTo>
                <a:close/>
              </a:path>
            </a:pathLst>
          </a:custGeom>
          <a:solidFill>
            <a:srgbClr val="A95EAF"/>
          </a:solidFill>
          <a:ln/>
        </p:spPr>
      </p:sp>
      <p:sp>
        <p:nvSpPr>
          <p:cNvPr id="11" name="Text 8"/>
          <p:cNvSpPr/>
          <p:nvPr/>
        </p:nvSpPr>
        <p:spPr>
          <a:xfrm>
            <a:off x="8488892" y="1955800"/>
            <a:ext cx="105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Rising V</a:t>
            </a:r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DC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902700" y="23622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00846" y="299204"/>
                </a:moveTo>
                <a:cubicBezTo>
                  <a:pt x="108287" y="306645"/>
                  <a:pt x="120372" y="306645"/>
                  <a:pt x="127814" y="299204"/>
                </a:cubicBezTo>
                <a:lnTo>
                  <a:pt x="223064" y="203954"/>
                </a:lnTo>
                <a:cubicBezTo>
                  <a:pt x="230505" y="196513"/>
                  <a:pt x="230505" y="184428"/>
                  <a:pt x="223064" y="176986"/>
                </a:cubicBezTo>
                <a:cubicBezTo>
                  <a:pt x="215622" y="169545"/>
                  <a:pt x="203537" y="169545"/>
                  <a:pt x="196096" y="176986"/>
                </a:cubicBezTo>
                <a:lnTo>
                  <a:pt x="133350" y="239732"/>
                </a:lnTo>
                <a:lnTo>
                  <a:pt x="133350" y="19050"/>
                </a:lnTo>
                <a:cubicBezTo>
                  <a:pt x="133350" y="8513"/>
                  <a:pt x="124837" y="0"/>
                  <a:pt x="114300" y="0"/>
                </a:cubicBezTo>
                <a:cubicBezTo>
                  <a:pt x="103763" y="0"/>
                  <a:pt x="95250" y="8513"/>
                  <a:pt x="95250" y="19050"/>
                </a:cubicBezTo>
                <a:lnTo>
                  <a:pt x="95250" y="239732"/>
                </a:lnTo>
                <a:lnTo>
                  <a:pt x="32504" y="176986"/>
                </a:lnTo>
                <a:cubicBezTo>
                  <a:pt x="25063" y="169545"/>
                  <a:pt x="12978" y="169545"/>
                  <a:pt x="5536" y="176986"/>
                </a:cubicBezTo>
                <a:cubicBezTo>
                  <a:pt x="-1905" y="184428"/>
                  <a:pt x="-1905" y="196513"/>
                  <a:pt x="5536" y="203954"/>
                </a:cubicBezTo>
                <a:lnTo>
                  <a:pt x="100786" y="299204"/>
                </a:lnTo>
                <a:close/>
              </a:path>
            </a:pathLst>
          </a:custGeom>
          <a:solidFill>
            <a:srgbClr val="D3B9D7"/>
          </a:solidFill>
          <a:ln/>
        </p:spPr>
      </p:sp>
      <p:sp>
        <p:nvSpPr>
          <p:cNvPr id="13" name="Shape 10"/>
          <p:cNvSpPr/>
          <p:nvPr/>
        </p:nvSpPr>
        <p:spPr>
          <a:xfrm>
            <a:off x="6096000" y="2768600"/>
            <a:ext cx="5842000" cy="1320800"/>
          </a:xfrm>
          <a:custGeom>
            <a:avLst/>
            <a:gdLst/>
            <a:ahLst/>
            <a:cxnLst/>
            <a:rect l="l" t="t" r="r" b="b"/>
            <a:pathLst>
              <a:path w="5842000" h="1320800">
                <a:moveTo>
                  <a:pt x="101596" y="0"/>
                </a:moveTo>
                <a:lnTo>
                  <a:pt x="5740404" y="0"/>
                </a:lnTo>
                <a:cubicBezTo>
                  <a:pt x="5796514" y="0"/>
                  <a:pt x="5842000" y="45486"/>
                  <a:pt x="5842000" y="101596"/>
                </a:cubicBezTo>
                <a:lnTo>
                  <a:pt x="5842000" y="1219204"/>
                </a:lnTo>
                <a:cubicBezTo>
                  <a:pt x="5842000" y="1275314"/>
                  <a:pt x="5796514" y="1320800"/>
                  <a:pt x="57404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14" name="Text 11"/>
          <p:cNvSpPr/>
          <p:nvPr/>
        </p:nvSpPr>
        <p:spPr>
          <a:xfrm>
            <a:off x="6248400" y="2971800"/>
            <a:ext cx="553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Hysteresis Control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48400" y="3276600"/>
            <a:ext cx="553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V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DC</a:t>
            </a:r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&gt; 700V: </a:t>
            </a:r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IGBT ON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V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DC</a:t>
            </a:r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&lt; 650V: </a:t>
            </a:r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IGBT OFF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902700" y="4191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00846" y="299204"/>
                </a:moveTo>
                <a:cubicBezTo>
                  <a:pt x="108287" y="306645"/>
                  <a:pt x="120372" y="306645"/>
                  <a:pt x="127814" y="299204"/>
                </a:cubicBezTo>
                <a:lnTo>
                  <a:pt x="223064" y="203954"/>
                </a:lnTo>
                <a:cubicBezTo>
                  <a:pt x="230505" y="196513"/>
                  <a:pt x="230505" y="184428"/>
                  <a:pt x="223064" y="176986"/>
                </a:cubicBezTo>
                <a:cubicBezTo>
                  <a:pt x="215622" y="169545"/>
                  <a:pt x="203537" y="169545"/>
                  <a:pt x="196096" y="176986"/>
                </a:cubicBezTo>
                <a:lnTo>
                  <a:pt x="133350" y="239732"/>
                </a:lnTo>
                <a:lnTo>
                  <a:pt x="133350" y="19050"/>
                </a:lnTo>
                <a:cubicBezTo>
                  <a:pt x="133350" y="8513"/>
                  <a:pt x="124837" y="0"/>
                  <a:pt x="114300" y="0"/>
                </a:cubicBezTo>
                <a:cubicBezTo>
                  <a:pt x="103763" y="0"/>
                  <a:pt x="95250" y="8513"/>
                  <a:pt x="95250" y="19050"/>
                </a:cubicBezTo>
                <a:lnTo>
                  <a:pt x="95250" y="239732"/>
                </a:lnTo>
                <a:lnTo>
                  <a:pt x="32504" y="176986"/>
                </a:lnTo>
                <a:cubicBezTo>
                  <a:pt x="25063" y="169545"/>
                  <a:pt x="12978" y="169545"/>
                  <a:pt x="5536" y="176986"/>
                </a:cubicBezTo>
                <a:cubicBezTo>
                  <a:pt x="-1905" y="184428"/>
                  <a:pt x="-1905" y="196513"/>
                  <a:pt x="5536" y="203954"/>
                </a:cubicBezTo>
                <a:lnTo>
                  <a:pt x="100786" y="299204"/>
                </a:lnTo>
                <a:close/>
              </a:path>
            </a:pathLst>
          </a:custGeom>
          <a:solidFill>
            <a:srgbClr val="D3B9D7"/>
          </a:solidFill>
          <a:ln/>
        </p:spPr>
      </p:sp>
      <p:sp>
        <p:nvSpPr>
          <p:cNvPr id="17" name="Shape 14"/>
          <p:cNvSpPr/>
          <p:nvPr/>
        </p:nvSpPr>
        <p:spPr>
          <a:xfrm>
            <a:off x="8853276" y="45974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19435" y="-19645"/>
                </a:moveTo>
                <a:cubicBezTo>
                  <a:pt x="126355" y="-25450"/>
                  <a:pt x="136550" y="-25226"/>
                  <a:pt x="143173" y="-18976"/>
                </a:cubicBezTo>
                <a:cubicBezTo>
                  <a:pt x="152326" y="-10344"/>
                  <a:pt x="160511" y="-819"/>
                  <a:pt x="168399" y="8855"/>
                </a:cubicBezTo>
                <a:cubicBezTo>
                  <a:pt x="178445" y="21134"/>
                  <a:pt x="190500" y="37356"/>
                  <a:pt x="202109" y="56629"/>
                </a:cubicBezTo>
                <a:cubicBezTo>
                  <a:pt x="205978" y="51569"/>
                  <a:pt x="209550" y="47104"/>
                  <a:pt x="212675" y="43309"/>
                </a:cubicBezTo>
                <a:cubicBezTo>
                  <a:pt x="213494" y="42342"/>
                  <a:pt x="214313" y="41300"/>
                  <a:pt x="215131" y="40258"/>
                </a:cubicBezTo>
                <a:cubicBezTo>
                  <a:pt x="221010" y="32965"/>
                  <a:pt x="228302" y="23812"/>
                  <a:pt x="238051" y="23812"/>
                </a:cubicBezTo>
                <a:cubicBezTo>
                  <a:pt x="248022" y="23812"/>
                  <a:pt x="255017" y="32668"/>
                  <a:pt x="260970" y="40258"/>
                </a:cubicBezTo>
                <a:cubicBezTo>
                  <a:pt x="261938" y="41523"/>
                  <a:pt x="262905" y="42714"/>
                  <a:pt x="263872" y="43830"/>
                </a:cubicBezTo>
                <a:cubicBezTo>
                  <a:pt x="271537" y="53057"/>
                  <a:pt x="281732" y="66377"/>
                  <a:pt x="291926" y="82823"/>
                </a:cubicBezTo>
                <a:cubicBezTo>
                  <a:pt x="312167" y="115491"/>
                  <a:pt x="333301" y="161999"/>
                  <a:pt x="333301" y="214238"/>
                </a:cubicBezTo>
                <a:cubicBezTo>
                  <a:pt x="333301" y="306288"/>
                  <a:pt x="258663" y="380926"/>
                  <a:pt x="166613" y="380926"/>
                </a:cubicBezTo>
                <a:cubicBezTo>
                  <a:pt x="74563" y="380926"/>
                  <a:pt x="0" y="306363"/>
                  <a:pt x="0" y="214313"/>
                </a:cubicBezTo>
                <a:cubicBezTo>
                  <a:pt x="0" y="146521"/>
                  <a:pt x="30584" y="87809"/>
                  <a:pt x="59903" y="46881"/>
                </a:cubicBezTo>
                <a:cubicBezTo>
                  <a:pt x="74712" y="26268"/>
                  <a:pt x="89446" y="9748"/>
                  <a:pt x="100533" y="-1563"/>
                </a:cubicBezTo>
                <a:cubicBezTo>
                  <a:pt x="106635" y="-7813"/>
                  <a:pt x="112812" y="-13990"/>
                  <a:pt x="119509" y="-19571"/>
                </a:cubicBezTo>
                <a:close/>
                <a:moveTo>
                  <a:pt x="167953" y="309563"/>
                </a:moveTo>
                <a:cubicBezTo>
                  <a:pt x="186779" y="309563"/>
                  <a:pt x="203448" y="304354"/>
                  <a:pt x="219149" y="293936"/>
                </a:cubicBezTo>
                <a:cubicBezTo>
                  <a:pt x="250478" y="272058"/>
                  <a:pt x="258887" y="228302"/>
                  <a:pt x="240060" y="193923"/>
                </a:cubicBezTo>
                <a:cubicBezTo>
                  <a:pt x="236711" y="187226"/>
                  <a:pt x="228154" y="186779"/>
                  <a:pt x="223317" y="192435"/>
                </a:cubicBezTo>
                <a:lnTo>
                  <a:pt x="204564" y="214238"/>
                </a:lnTo>
                <a:cubicBezTo>
                  <a:pt x="199653" y="219894"/>
                  <a:pt x="190798" y="219745"/>
                  <a:pt x="186184" y="213866"/>
                </a:cubicBezTo>
                <a:cubicBezTo>
                  <a:pt x="173310" y="197421"/>
                  <a:pt x="149647" y="167432"/>
                  <a:pt x="137592" y="152102"/>
                </a:cubicBezTo>
                <a:cubicBezTo>
                  <a:pt x="133573" y="146968"/>
                  <a:pt x="126281" y="146149"/>
                  <a:pt x="121593" y="150688"/>
                </a:cubicBezTo>
                <a:cubicBezTo>
                  <a:pt x="107975" y="163934"/>
                  <a:pt x="83269" y="192956"/>
                  <a:pt x="83269" y="228302"/>
                </a:cubicBezTo>
                <a:cubicBezTo>
                  <a:pt x="83269" y="279350"/>
                  <a:pt x="120923" y="309563"/>
                  <a:pt x="167878" y="309563"/>
                </a:cubicBezTo>
                <a:close/>
              </a:path>
            </a:pathLst>
          </a:custGeom>
          <a:solidFill>
            <a:srgbClr val="A95EAF"/>
          </a:solidFill>
          <a:ln/>
        </p:spPr>
      </p:sp>
      <p:sp>
        <p:nvSpPr>
          <p:cNvPr id="18" name="Text 15"/>
          <p:cNvSpPr/>
          <p:nvPr/>
        </p:nvSpPr>
        <p:spPr>
          <a:xfrm>
            <a:off x="7392670" y="4978400"/>
            <a:ext cx="325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Energy Dissipated in 60 Ω Resistor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rotWithShape="1" flip="none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rotWithShape="1" flip="none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280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5280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3665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665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2049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42049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0434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0434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8818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98818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7203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7203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1655" y="2687320"/>
            <a:ext cx="11172825" cy="23069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41655" y="2687320"/>
            <a:ext cx="11172825" cy="23069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Scalar Control Scheme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515235" y="1350010"/>
            <a:ext cx="7161530" cy="1219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rotWithShape="1" flip="none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8-15:08:29-d2v81rdnfo2stf9dkdb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8750" y="1445048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V/f Control with SPWM Modulation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4000" y="2308648"/>
            <a:ext cx="4559300" cy="3098800"/>
          </a:xfrm>
          <a:custGeom>
            <a:avLst/>
            <a:gdLst/>
            <a:ahLst/>
            <a:cxnLst/>
            <a:rect l="l" t="t" r="r" b="b"/>
            <a:pathLst>
              <a:path w="4559300" h="3098800">
                <a:moveTo>
                  <a:pt x="101610" y="0"/>
                </a:moveTo>
                <a:lnTo>
                  <a:pt x="4457690" y="0"/>
                </a:lnTo>
                <a:cubicBezTo>
                  <a:pt x="4513808" y="0"/>
                  <a:pt x="4559300" y="45492"/>
                  <a:pt x="4559300" y="101610"/>
                </a:cubicBezTo>
                <a:lnTo>
                  <a:pt x="4559300" y="2997190"/>
                </a:lnTo>
                <a:cubicBezTo>
                  <a:pt x="4559300" y="3053308"/>
                  <a:pt x="4513808" y="3098800"/>
                  <a:pt x="4457690" y="3098800"/>
                </a:cubicBezTo>
                <a:lnTo>
                  <a:pt x="101610" y="3098800"/>
                </a:lnTo>
                <a:cubicBezTo>
                  <a:pt x="45492" y="3098800"/>
                  <a:pt x="0" y="3053308"/>
                  <a:pt x="0" y="2997190"/>
                </a:cubicBezTo>
                <a:lnTo>
                  <a:pt x="0" y="101610"/>
                </a:lnTo>
                <a:cubicBezTo>
                  <a:pt x="0" y="45530"/>
                  <a:pt x="45530" y="0"/>
                  <a:pt x="101610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251184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8" name="Shape 5"/>
          <p:cNvSpPr/>
          <p:nvPr/>
        </p:nvSpPr>
        <p:spPr>
          <a:xfrm>
            <a:off x="584200" y="263884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5875" y="31750"/>
                </a:moveTo>
                <a:cubicBezTo>
                  <a:pt x="7094" y="31750"/>
                  <a:pt x="0" y="38844"/>
                  <a:pt x="0" y="47625"/>
                </a:cubicBezTo>
                <a:cubicBezTo>
                  <a:pt x="0" y="56406"/>
                  <a:pt x="7094" y="63500"/>
                  <a:pt x="15875" y="63500"/>
                </a:cubicBezTo>
                <a:lnTo>
                  <a:pt x="58886" y="63500"/>
                </a:lnTo>
                <a:cubicBezTo>
                  <a:pt x="64988" y="77539"/>
                  <a:pt x="78978" y="87313"/>
                  <a:pt x="95250" y="87313"/>
                </a:cubicBezTo>
                <a:cubicBezTo>
                  <a:pt x="111522" y="87313"/>
                  <a:pt x="125512" y="77539"/>
                  <a:pt x="131614" y="63500"/>
                </a:cubicBezTo>
                <a:lnTo>
                  <a:pt x="238125" y="63500"/>
                </a:lnTo>
                <a:cubicBezTo>
                  <a:pt x="246906" y="63500"/>
                  <a:pt x="254000" y="56406"/>
                  <a:pt x="254000" y="47625"/>
                </a:cubicBezTo>
                <a:cubicBezTo>
                  <a:pt x="254000" y="38844"/>
                  <a:pt x="246906" y="31750"/>
                  <a:pt x="238125" y="31750"/>
                </a:cubicBezTo>
                <a:lnTo>
                  <a:pt x="131614" y="31750"/>
                </a:lnTo>
                <a:cubicBezTo>
                  <a:pt x="125512" y="17711"/>
                  <a:pt x="111522" y="7938"/>
                  <a:pt x="95250" y="7938"/>
                </a:cubicBezTo>
                <a:cubicBezTo>
                  <a:pt x="78978" y="7938"/>
                  <a:pt x="64988" y="17711"/>
                  <a:pt x="58886" y="31750"/>
                </a:cubicBezTo>
                <a:lnTo>
                  <a:pt x="15875" y="31750"/>
                </a:lnTo>
                <a:close/>
                <a:moveTo>
                  <a:pt x="15875" y="111125"/>
                </a:move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38261" y="142875"/>
                </a:lnTo>
                <a:cubicBezTo>
                  <a:pt x="144363" y="156914"/>
                  <a:pt x="158353" y="166688"/>
                  <a:pt x="174625" y="166688"/>
                </a:cubicBezTo>
                <a:cubicBezTo>
                  <a:pt x="190897" y="166688"/>
                  <a:pt x="204887" y="156914"/>
                  <a:pt x="210989" y="142875"/>
                </a:cubicBezTo>
                <a:lnTo>
                  <a:pt x="238125" y="142875"/>
                </a:lnTo>
                <a:cubicBezTo>
                  <a:pt x="246906" y="142875"/>
                  <a:pt x="254000" y="135781"/>
                  <a:pt x="254000" y="127000"/>
                </a:cubicBezTo>
                <a:cubicBezTo>
                  <a:pt x="254000" y="118219"/>
                  <a:pt x="246906" y="111125"/>
                  <a:pt x="238125" y="111125"/>
                </a:cubicBezTo>
                <a:lnTo>
                  <a:pt x="210989" y="111125"/>
                </a:lnTo>
                <a:cubicBezTo>
                  <a:pt x="204887" y="97086"/>
                  <a:pt x="190897" y="87313"/>
                  <a:pt x="174625" y="87313"/>
                </a:cubicBezTo>
                <a:cubicBezTo>
                  <a:pt x="158353" y="87313"/>
                  <a:pt x="144363" y="97086"/>
                  <a:pt x="138261" y="111125"/>
                </a:cubicBezTo>
                <a:lnTo>
                  <a:pt x="15875" y="111125"/>
                </a:lnTo>
                <a:close/>
                <a:moveTo>
                  <a:pt x="15875" y="190500"/>
                </a:moveTo>
                <a:cubicBezTo>
                  <a:pt x="7094" y="190500"/>
                  <a:pt x="0" y="197594"/>
                  <a:pt x="0" y="206375"/>
                </a:cubicBezTo>
                <a:cubicBezTo>
                  <a:pt x="0" y="215156"/>
                  <a:pt x="7094" y="222250"/>
                  <a:pt x="15875" y="222250"/>
                </a:cubicBezTo>
                <a:lnTo>
                  <a:pt x="43011" y="222250"/>
                </a:lnTo>
                <a:cubicBezTo>
                  <a:pt x="49113" y="236289"/>
                  <a:pt x="63103" y="246063"/>
                  <a:pt x="79375" y="246063"/>
                </a:cubicBezTo>
                <a:cubicBezTo>
                  <a:pt x="95647" y="246063"/>
                  <a:pt x="109637" y="236289"/>
                  <a:pt x="115739" y="222250"/>
                </a:cubicBezTo>
                <a:lnTo>
                  <a:pt x="238125" y="222250"/>
                </a:lnTo>
                <a:cubicBezTo>
                  <a:pt x="246906" y="222250"/>
                  <a:pt x="254000" y="215156"/>
                  <a:pt x="254000" y="206375"/>
                </a:cubicBezTo>
                <a:cubicBezTo>
                  <a:pt x="254000" y="197594"/>
                  <a:pt x="246906" y="190500"/>
                  <a:pt x="238125" y="190500"/>
                </a:cubicBezTo>
                <a:lnTo>
                  <a:pt x="115739" y="190500"/>
                </a:lnTo>
                <a:cubicBezTo>
                  <a:pt x="109637" y="176461"/>
                  <a:pt x="95647" y="166688"/>
                  <a:pt x="79375" y="166688"/>
                </a:cubicBezTo>
                <a:cubicBezTo>
                  <a:pt x="63103" y="166688"/>
                  <a:pt x="49113" y="176461"/>
                  <a:pt x="43011" y="190500"/>
                </a:cubicBezTo>
                <a:lnTo>
                  <a:pt x="15875" y="190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117600" y="2588048"/>
            <a:ext cx="2171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Scalar V/f Control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3172248"/>
            <a:ext cx="4241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 open-loop strategy to maintain constant air-gap flux by keeping the ratio of stator voltage to frequency constant.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8"/>
              <p:cNvSpPr/>
              <p:nvPr/>
            </p:nvSpPr>
            <p:spPr>
              <a:xfrm>
                <a:off x="400050" y="4366050"/>
                <a:ext cx="4267200" cy="609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type m:val="bar"/>
                        </m:fPr>
                        <m:num>
                          <m:r>
                            <a:rPr lang="en-US" sz="1300" i="1" dirty="0">
                              <a:solidFill>
                                <a:srgbClr val="A95EAF"/>
                              </a:solidFill>
                            </a:rPr>
                            <m:t>V</m:t>
                          </m:r>
                        </m:num>
                        <m:den>
                          <m:r>
                            <a:rPr lang="en-US" sz="1300" i="1" dirty="0">
                              <a:solidFill>
                                <a:srgbClr val="A95EAF"/>
                              </a:solidFill>
                            </a:rPr>
                            <m:t>f</m:t>
                          </m:r>
                        </m:den>
                      </m:f>
                      <m:r>
                        <a:rPr lang="en-US" sz="1800" dirty="0">
                          <a:solidFill>
                            <a:srgbClr val="A95EAF"/>
                          </a:solidFill>
                        </a:rPr>
                        <m:t>≈</m:t>
                      </m:r>
                      <m:r>
                        <a:rPr lang="en-US" sz="1800" dirty="0">
                          <a:solidFill>
                            <a:srgbClr val="A95EAF"/>
                          </a:solidFill>
                        </a:rPr>
                        <m:t>Constant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 8"/>
              <p:cNvSpPr/>
              <p:nvPr/>
            </p:nvSpPr>
            <p:spPr>
              <a:xfrm>
                <a:off x="400050" y="4366050"/>
                <a:ext cx="4267200" cy="609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en-US" sz="1800" dirty="0">
                    <a:solidFill>
                      <a:srgbClr val="A95EAF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(  \frac{V}{f} \approx \text{Constant}  )</a:t>
                </a:r>
                <a:endParaRPr lang="en-US" sz="1600" dirty="0"/>
              </a:p>
            </p:txBody>
          </p:sp>
        </mc:Fallback>
      </mc:AlternateContent>
      <p:sp>
        <p:nvSpPr>
          <p:cNvPr id="12" name="Shape 9"/>
          <p:cNvSpPr/>
          <p:nvPr/>
        </p:nvSpPr>
        <p:spPr>
          <a:xfrm>
            <a:off x="5112808" y="2308648"/>
            <a:ext cx="6819900" cy="3098800"/>
          </a:xfrm>
          <a:custGeom>
            <a:avLst/>
            <a:gdLst/>
            <a:ahLst/>
            <a:cxnLst/>
            <a:rect l="l" t="t" r="r" b="b"/>
            <a:pathLst>
              <a:path w="6819900" h="3098800">
                <a:moveTo>
                  <a:pt x="101610" y="0"/>
                </a:moveTo>
                <a:lnTo>
                  <a:pt x="6718290" y="0"/>
                </a:lnTo>
                <a:cubicBezTo>
                  <a:pt x="6774408" y="0"/>
                  <a:pt x="6819900" y="45492"/>
                  <a:pt x="6819900" y="101610"/>
                </a:cubicBezTo>
                <a:lnTo>
                  <a:pt x="6819900" y="2997190"/>
                </a:lnTo>
                <a:cubicBezTo>
                  <a:pt x="6819900" y="3053308"/>
                  <a:pt x="6774408" y="3098800"/>
                  <a:pt x="6718290" y="3098800"/>
                </a:cubicBezTo>
                <a:lnTo>
                  <a:pt x="101610" y="3098800"/>
                </a:lnTo>
                <a:cubicBezTo>
                  <a:pt x="45492" y="3098800"/>
                  <a:pt x="0" y="3053308"/>
                  <a:pt x="0" y="2997190"/>
                </a:cubicBezTo>
                <a:lnTo>
                  <a:pt x="0" y="101610"/>
                </a:lnTo>
                <a:cubicBezTo>
                  <a:pt x="0" y="45530"/>
                  <a:pt x="45530" y="0"/>
                  <a:pt x="101610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316008" y="251184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A95EAF"/>
          </a:solidFill>
          <a:ln/>
        </p:spPr>
      </p:sp>
      <p:sp>
        <p:nvSpPr>
          <p:cNvPr id="14" name="Shape 11"/>
          <p:cNvSpPr/>
          <p:nvPr/>
        </p:nvSpPr>
        <p:spPr>
          <a:xfrm>
            <a:off x="5443008" y="263884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2693" y="113357"/>
                </a:moveTo>
                <a:cubicBezTo>
                  <a:pt x="39291" y="67221"/>
                  <a:pt x="79028" y="31750"/>
                  <a:pt x="127000" y="31750"/>
                </a:cubicBezTo>
                <a:cubicBezTo>
                  <a:pt x="153293" y="31750"/>
                  <a:pt x="177105" y="42416"/>
                  <a:pt x="194370" y="59630"/>
                </a:cubicBezTo>
                <a:cubicBezTo>
                  <a:pt x="194469" y="59730"/>
                  <a:pt x="194568" y="59829"/>
                  <a:pt x="194667" y="59928"/>
                </a:cubicBezTo>
                <a:lnTo>
                  <a:pt x="198438" y="63500"/>
                </a:lnTo>
                <a:lnTo>
                  <a:pt x="174675" y="63500"/>
                </a:lnTo>
                <a:cubicBezTo>
                  <a:pt x="165894" y="63500"/>
                  <a:pt x="158800" y="70594"/>
                  <a:pt x="158800" y="79375"/>
                </a:cubicBezTo>
                <a:cubicBezTo>
                  <a:pt x="158800" y="88156"/>
                  <a:pt x="165894" y="95250"/>
                  <a:pt x="174675" y="95250"/>
                </a:cubicBezTo>
                <a:lnTo>
                  <a:pt x="238175" y="95250"/>
                </a:lnTo>
                <a:cubicBezTo>
                  <a:pt x="246955" y="95250"/>
                  <a:pt x="254050" y="88156"/>
                  <a:pt x="254050" y="79375"/>
                </a:cubicBezTo>
                <a:lnTo>
                  <a:pt x="254050" y="15875"/>
                </a:lnTo>
                <a:cubicBezTo>
                  <a:pt x="254050" y="7094"/>
                  <a:pt x="246955" y="0"/>
                  <a:pt x="238175" y="0"/>
                </a:cubicBezTo>
                <a:cubicBezTo>
                  <a:pt x="229394" y="0"/>
                  <a:pt x="222300" y="7094"/>
                  <a:pt x="222300" y="15875"/>
                </a:cubicBezTo>
                <a:lnTo>
                  <a:pt x="222300" y="42366"/>
                </a:lnTo>
                <a:lnTo>
                  <a:pt x="216694" y="37058"/>
                </a:lnTo>
                <a:cubicBezTo>
                  <a:pt x="193725" y="14188"/>
                  <a:pt x="161975" y="0"/>
                  <a:pt x="127000" y="0"/>
                </a:cubicBezTo>
                <a:cubicBezTo>
                  <a:pt x="63004" y="0"/>
                  <a:pt x="10071" y="47327"/>
                  <a:pt x="1290" y="108893"/>
                </a:cubicBezTo>
                <a:cubicBezTo>
                  <a:pt x="50" y="117574"/>
                  <a:pt x="6052" y="125611"/>
                  <a:pt x="14734" y="126851"/>
                </a:cubicBezTo>
                <a:cubicBezTo>
                  <a:pt x="23416" y="128091"/>
                  <a:pt x="31452" y="122039"/>
                  <a:pt x="32693" y="113407"/>
                </a:cubicBezTo>
                <a:close/>
                <a:moveTo>
                  <a:pt x="252710" y="145107"/>
                </a:moveTo>
                <a:cubicBezTo>
                  <a:pt x="253950" y="136426"/>
                  <a:pt x="247898" y="128389"/>
                  <a:pt x="239266" y="127149"/>
                </a:cubicBezTo>
                <a:cubicBezTo>
                  <a:pt x="230634" y="125909"/>
                  <a:pt x="222548" y="131961"/>
                  <a:pt x="221307" y="140593"/>
                </a:cubicBezTo>
                <a:cubicBezTo>
                  <a:pt x="214709" y="186730"/>
                  <a:pt x="174972" y="222200"/>
                  <a:pt x="127000" y="222200"/>
                </a:cubicBezTo>
                <a:cubicBezTo>
                  <a:pt x="100707" y="222200"/>
                  <a:pt x="76895" y="211534"/>
                  <a:pt x="59630" y="194320"/>
                </a:cubicBezTo>
                <a:cubicBezTo>
                  <a:pt x="59531" y="194221"/>
                  <a:pt x="59432" y="194121"/>
                  <a:pt x="59333" y="194022"/>
                </a:cubicBezTo>
                <a:lnTo>
                  <a:pt x="55562" y="190450"/>
                </a:lnTo>
                <a:lnTo>
                  <a:pt x="79325" y="190450"/>
                </a:lnTo>
                <a:cubicBezTo>
                  <a:pt x="88106" y="190450"/>
                  <a:pt x="95200" y="183356"/>
                  <a:pt x="95200" y="174575"/>
                </a:cubicBezTo>
                <a:cubicBezTo>
                  <a:pt x="95200" y="165795"/>
                  <a:pt x="88106" y="158700"/>
                  <a:pt x="79325" y="158700"/>
                </a:cubicBezTo>
                <a:lnTo>
                  <a:pt x="15875" y="158750"/>
                </a:lnTo>
                <a:cubicBezTo>
                  <a:pt x="11658" y="158750"/>
                  <a:pt x="7590" y="160437"/>
                  <a:pt x="4614" y="163463"/>
                </a:cubicBezTo>
                <a:cubicBezTo>
                  <a:pt x="1637" y="166489"/>
                  <a:pt x="-50" y="170507"/>
                  <a:pt x="0" y="174774"/>
                </a:cubicBezTo>
                <a:lnTo>
                  <a:pt x="496" y="237778"/>
                </a:lnTo>
                <a:cubicBezTo>
                  <a:pt x="546" y="246559"/>
                  <a:pt x="7739" y="253603"/>
                  <a:pt x="16520" y="253504"/>
                </a:cubicBezTo>
                <a:cubicBezTo>
                  <a:pt x="25301" y="253405"/>
                  <a:pt x="32345" y="246261"/>
                  <a:pt x="32246" y="237480"/>
                </a:cubicBezTo>
                <a:lnTo>
                  <a:pt x="32048" y="211931"/>
                </a:lnTo>
                <a:lnTo>
                  <a:pt x="37356" y="216942"/>
                </a:lnTo>
                <a:cubicBezTo>
                  <a:pt x="60325" y="239812"/>
                  <a:pt x="92025" y="254000"/>
                  <a:pt x="127000" y="254000"/>
                </a:cubicBezTo>
                <a:cubicBezTo>
                  <a:pt x="190996" y="254000"/>
                  <a:pt x="243929" y="206673"/>
                  <a:pt x="252710" y="14510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5976408" y="2588048"/>
            <a:ext cx="299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A95E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Sinusoidal PWM (SPWM)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16008" y="3172248"/>
            <a:ext cx="65024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high-frequency (1 kHz) triangular carrier wave is compared with a low-frequency sine wave reference to generate gating pulses for the IGBTs.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401521" y="4701750"/>
            <a:ext cx="148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Reference Sine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414221" y="5006550"/>
            <a:ext cx="146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(Desired Freq.)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171479" y="480335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52400" y="38100"/>
                </a:moveTo>
                <a:cubicBezTo>
                  <a:pt x="152400" y="27563"/>
                  <a:pt x="143887" y="19050"/>
                  <a:pt x="133350" y="19050"/>
                </a:cubicBezTo>
                <a:cubicBezTo>
                  <a:pt x="122813" y="19050"/>
                  <a:pt x="114300" y="27563"/>
                  <a:pt x="114300" y="38100"/>
                </a:cubicBezTo>
                <a:lnTo>
                  <a:pt x="114300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114300" y="171450"/>
                </a:lnTo>
                <a:lnTo>
                  <a:pt x="114300" y="266700"/>
                </a:lnTo>
                <a:cubicBezTo>
                  <a:pt x="114300" y="277237"/>
                  <a:pt x="122813" y="285750"/>
                  <a:pt x="133350" y="285750"/>
                </a:cubicBezTo>
                <a:cubicBezTo>
                  <a:pt x="143887" y="285750"/>
                  <a:pt x="152400" y="277237"/>
                  <a:pt x="152400" y="266700"/>
                </a:cubicBezTo>
                <a:lnTo>
                  <a:pt x="152400" y="171450"/>
                </a:lnTo>
                <a:lnTo>
                  <a:pt x="247650" y="171450"/>
                </a:lnTo>
                <a:cubicBezTo>
                  <a:pt x="258187" y="171450"/>
                  <a:pt x="266700" y="162937"/>
                  <a:pt x="266700" y="152400"/>
                </a:cubicBezTo>
                <a:cubicBezTo>
                  <a:pt x="266700" y="141863"/>
                  <a:pt x="258187" y="133350"/>
                  <a:pt x="247650" y="133350"/>
                </a:cubicBezTo>
                <a:lnTo>
                  <a:pt x="152400" y="133350"/>
                </a:lnTo>
                <a:lnTo>
                  <a:pt x="152400" y="38100"/>
                </a:ln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20" name="Text 17"/>
          <p:cNvSpPr/>
          <p:nvPr/>
        </p:nvSpPr>
        <p:spPr>
          <a:xfrm>
            <a:off x="7717155" y="4701750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Triangular Carrier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729855" y="5006550"/>
            <a:ext cx="1701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(1 kHz)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702165" y="48033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23" name="Text 20"/>
          <p:cNvSpPr/>
          <p:nvPr/>
        </p:nvSpPr>
        <p:spPr>
          <a:xfrm>
            <a:off x="10267104" y="4803350"/>
            <a:ext cx="138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SPWM Pulses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rotWithShape="1" flip="none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rotWithShape="1" flip="none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280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5280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3665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665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2049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42049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0434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0434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8818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98818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7203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7203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1655" y="2687320"/>
            <a:ext cx="11172825" cy="23069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41655" y="2687320"/>
            <a:ext cx="11172825" cy="23069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Time-Domain Results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515235" y="1350010"/>
            <a:ext cx="7161530" cy="1219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rotWithShape="1" flip="none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8-15:08:29-d2v81rdnfo2stf9dkdb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8750" y="5588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 Speed &amp; Torque Response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90500" y="1219200"/>
            <a:ext cx="5765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A95E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Rotor Speed</a:t>
            </a:r>
            <a:endParaRPr lang="en-US" sz="1600" dirty="0"/>
          </a:p>
        </p:txBody>
      </p:sp>
      <p:pic>
        <p:nvPicPr>
          <p:cNvPr id="7" name="Image 1" descr="https://kimi-img.moonshot.cn/pub/slides/25-12-09-19:47:59-d4s0oruom6ppei6e5h40.png">    </p:cNvPr>
          <p:cNvPicPr>
            <a:picLocks noChangeAspect="1"/>
          </p:cNvPicPr>
          <p:nvPr/>
        </p:nvPicPr>
        <p:blipFill>
          <a:blip r:embed="rId2"/>
          <a:srcRect l="14452" r="14452" t="0" b="0"/>
          <a:stretch/>
        </p:blipFill>
        <p:spPr>
          <a:xfrm>
            <a:off x="309522" y="1778000"/>
            <a:ext cx="5786478" cy="4013200"/>
          </a:xfrm>
          <a:prstGeom prst="roundRect">
            <a:avLst>
              <a:gd name="adj" fmla="val 2532"/>
            </a:avLst>
          </a:prstGeom>
        </p:spPr>
      </p:pic>
      <p:sp>
        <p:nvSpPr>
          <p:cNvPr id="8" name="Text 4"/>
          <p:cNvSpPr/>
          <p:nvPr/>
        </p:nvSpPr>
        <p:spPr>
          <a:xfrm>
            <a:off x="209550" y="5791200"/>
            <a:ext cx="5727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motor accelerates to +10 rad/sec, decelerating to a stop, and then reversing to -10 rad/sec.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235700" y="1219200"/>
            <a:ext cx="5765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A95E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Electromagnetic Torque</a:t>
            </a:r>
            <a:endParaRPr lang="en-US" sz="1600" dirty="0"/>
          </a:p>
        </p:txBody>
      </p:sp>
      <p:pic>
        <p:nvPicPr>
          <p:cNvPr id="10" name="Image 2" descr="https://kimi-img.moonshot.cn/pub/slides/25-12-09-19:47:36-d4s0om6uvalm2k02l55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571" y="1867048"/>
            <a:ext cx="5594679" cy="4013200"/>
          </a:xfrm>
          <a:prstGeom prst="roundRect">
            <a:avLst>
              <a:gd name="adj" fmla="val 2532"/>
            </a:avLst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rotWithShape="1" flip="none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8-15:08:29-d2v81rdnfo2stf9dkdb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02287" y="889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DC Bus Voltage Clamping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68400" y="1549400"/>
            <a:ext cx="985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During regeneration, the DC bus voltage is actively clamped by the braking chopper, preventing catastrophic over-voltage.</a:t>
            </a:r>
            <a:endParaRPr lang="en-US" sz="1600" dirty="0"/>
          </a:p>
        </p:txBody>
      </p:sp>
      <p:pic>
        <p:nvPicPr>
          <p:cNvPr id="7" name="Image 1" descr="https://kimi-img.moonshot.cn/pub/slides/25-12-09-19:50:21-d4s0pveom6ppei6e67e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9000"/>
            <a:ext cx="11863374" cy="2743200"/>
          </a:xfrm>
          <a:prstGeom prst="roundRect">
            <a:avLst>
              <a:gd name="adj" fmla="val 4167"/>
            </a:avLst>
          </a:prstGeom>
        </p:spPr>
      </p:pic>
      <p:sp>
        <p:nvSpPr>
          <p:cNvPr id="8" name="Text 4"/>
          <p:cNvSpPr/>
          <p:nvPr/>
        </p:nvSpPr>
        <p:spPr>
          <a:xfrm>
            <a:off x="400050" y="5105400"/>
            <a:ext cx="127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A95E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650 V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12750" y="5461000"/>
            <a:ext cx="1244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Lower Limit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(Chopper OFF)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1815465" y="5511800"/>
            <a:ext cx="8636000" cy="50800"/>
          </a:xfrm>
          <a:custGeom>
            <a:avLst/>
            <a:gdLst/>
            <a:ahLst/>
            <a:cxnLst/>
            <a:rect l="l" t="t" r="r" b="b"/>
            <a:pathLst>
              <a:path w="8636000" h="50800">
                <a:moveTo>
                  <a:pt x="25400" y="0"/>
                </a:moveTo>
                <a:lnTo>
                  <a:pt x="8610600" y="0"/>
                </a:lnTo>
                <a:cubicBezTo>
                  <a:pt x="8624619" y="0"/>
                  <a:pt x="8636000" y="11381"/>
                  <a:pt x="8636000" y="25400"/>
                </a:cubicBezTo>
                <a:lnTo>
                  <a:pt x="8636000" y="25400"/>
                </a:lnTo>
                <a:cubicBezTo>
                  <a:pt x="8636000" y="39419"/>
                  <a:pt x="8624619" y="50800"/>
                  <a:pt x="8610600" y="50800"/>
                </a:cubicBezTo>
                <a:lnTo>
                  <a:pt x="25400" y="50800"/>
                </a:lnTo>
                <a:cubicBezTo>
                  <a:pt x="11381" y="50800"/>
                  <a:pt x="0" y="39419"/>
                  <a:pt x="0" y="25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D3B9D7"/>
          </a:solidFill>
          <a:ln/>
        </p:spPr>
      </p:sp>
      <p:sp>
        <p:nvSpPr>
          <p:cNvPr id="11" name="Text 7"/>
          <p:cNvSpPr/>
          <p:nvPr/>
        </p:nvSpPr>
        <p:spPr>
          <a:xfrm>
            <a:off x="10592223" y="5105400"/>
            <a:ext cx="119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A95E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700 V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604923" y="5461000"/>
            <a:ext cx="1168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Upper Limit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(Chopper ON)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rotWithShape="1" flip="none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rotWithShape="1" flip="none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280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5280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3665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665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2049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42049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0434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0434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8818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98818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7203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7203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1655" y="2687320"/>
            <a:ext cx="11172825" cy="23069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41655" y="2687320"/>
            <a:ext cx="11172825" cy="23069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Four-Quadrant Map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515235" y="1350010"/>
            <a:ext cx="7161530" cy="1219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rotWithShape="1" flip="none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8-15:08:29-d2v81rdnfo2stf9dkdb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4000" y="1803400"/>
            <a:ext cx="572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Torque-Speed Quadrant Loop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54000" y="2463800"/>
            <a:ext cx="5638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XY plot of Torque (Y) vs. Speed (X) provides a clear visualization of the machine's four-quadrant operation.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4000" y="3276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3B9D7">
              <a:alpha val="37647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46075" y="3365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75" y="0"/>
                </a:moveTo>
                <a:cubicBezTo>
                  <a:pt x="134972" y="0"/>
                  <a:pt x="128588" y="6385"/>
                  <a:pt x="128588" y="14288"/>
                </a:cubicBezTo>
                <a:cubicBezTo>
                  <a:pt x="128588" y="22190"/>
                  <a:pt x="134972" y="28575"/>
                  <a:pt x="142875" y="28575"/>
                </a:cubicBezTo>
                <a:lnTo>
                  <a:pt x="179799" y="28575"/>
                </a:lnTo>
                <a:lnTo>
                  <a:pt x="89877" y="118497"/>
                </a:lnTo>
                <a:cubicBezTo>
                  <a:pt x="84296" y="124078"/>
                  <a:pt x="84296" y="133142"/>
                  <a:pt x="89877" y="138723"/>
                </a:cubicBezTo>
                <a:cubicBezTo>
                  <a:pt x="95458" y="144304"/>
                  <a:pt x="104522" y="144304"/>
                  <a:pt x="110103" y="138723"/>
                </a:cubicBezTo>
                <a:lnTo>
                  <a:pt x="200025" y="48801"/>
                </a:lnTo>
                <a:lnTo>
                  <a:pt x="200025" y="85725"/>
                </a:lnTo>
                <a:cubicBezTo>
                  <a:pt x="200025" y="93628"/>
                  <a:pt x="206410" y="100013"/>
                  <a:pt x="214313" y="100013"/>
                </a:cubicBezTo>
                <a:cubicBezTo>
                  <a:pt x="222215" y="100013"/>
                  <a:pt x="228600" y="93628"/>
                  <a:pt x="228600" y="85725"/>
                </a:cubicBezTo>
                <a:lnTo>
                  <a:pt x="228600" y="14288"/>
                </a:lnTo>
                <a:cubicBezTo>
                  <a:pt x="228600" y="6385"/>
                  <a:pt x="222215" y="0"/>
                  <a:pt x="214313" y="0"/>
                </a:cubicBezTo>
                <a:lnTo>
                  <a:pt x="142875" y="0"/>
                </a:lnTo>
                <a:close/>
                <a:moveTo>
                  <a:pt x="35719" y="42863"/>
                </a:moveTo>
                <a:cubicBezTo>
                  <a:pt x="15984" y="42863"/>
                  <a:pt x="0" y="58847"/>
                  <a:pt x="0" y="78581"/>
                </a:cubicBezTo>
                <a:lnTo>
                  <a:pt x="0" y="192881"/>
                </a:lnTo>
                <a:cubicBezTo>
                  <a:pt x="0" y="212616"/>
                  <a:pt x="15984" y="228600"/>
                  <a:pt x="35719" y="228600"/>
                </a:cubicBezTo>
                <a:lnTo>
                  <a:pt x="150019" y="228600"/>
                </a:lnTo>
                <a:cubicBezTo>
                  <a:pt x="169753" y="228600"/>
                  <a:pt x="185738" y="212616"/>
                  <a:pt x="185738" y="192881"/>
                </a:cubicBezTo>
                <a:lnTo>
                  <a:pt x="185738" y="157163"/>
                </a:lnTo>
                <a:cubicBezTo>
                  <a:pt x="185738" y="149260"/>
                  <a:pt x="179353" y="142875"/>
                  <a:pt x="171450" y="142875"/>
                </a:cubicBezTo>
                <a:cubicBezTo>
                  <a:pt x="163547" y="142875"/>
                  <a:pt x="157163" y="149260"/>
                  <a:pt x="157163" y="157163"/>
                </a:cubicBezTo>
                <a:lnTo>
                  <a:pt x="157163" y="192881"/>
                </a:lnTo>
                <a:cubicBezTo>
                  <a:pt x="157163" y="196810"/>
                  <a:pt x="153948" y="200025"/>
                  <a:pt x="150019" y="200025"/>
                </a:cubicBezTo>
                <a:lnTo>
                  <a:pt x="35719" y="200025"/>
                </a:lnTo>
                <a:cubicBezTo>
                  <a:pt x="31790" y="200025"/>
                  <a:pt x="28575" y="196810"/>
                  <a:pt x="28575" y="192881"/>
                </a:cubicBezTo>
                <a:lnTo>
                  <a:pt x="28575" y="78581"/>
                </a:lnTo>
                <a:cubicBezTo>
                  <a:pt x="28575" y="74652"/>
                  <a:pt x="31790" y="71438"/>
                  <a:pt x="35719" y="71438"/>
                </a:cubicBezTo>
                <a:lnTo>
                  <a:pt x="71438" y="71438"/>
                </a:lnTo>
                <a:cubicBezTo>
                  <a:pt x="79340" y="71438"/>
                  <a:pt x="85725" y="65053"/>
                  <a:pt x="85725" y="57150"/>
                </a:cubicBezTo>
                <a:cubicBezTo>
                  <a:pt x="85725" y="49247"/>
                  <a:pt x="79340" y="42863"/>
                  <a:pt x="71438" y="42863"/>
                </a:cubicBezTo>
                <a:lnTo>
                  <a:pt x="35719" y="42863"/>
                </a:ln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9" name="Text 6"/>
          <p:cNvSpPr/>
          <p:nvPr/>
        </p:nvSpPr>
        <p:spPr>
          <a:xfrm>
            <a:off x="812800" y="3276600"/>
            <a:ext cx="508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8F5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Quadrant I (Forward Motoring)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2800" y="3581400"/>
            <a:ext cx="5067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+Speed, +Torque. Power is positive. Energy flows from grid to motor.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54000" y="4241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3B9D7">
              <a:alpha val="37647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346075" y="4330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9423" y="102022"/>
                </a:moveTo>
                <a:cubicBezTo>
                  <a:pt x="35362" y="60499"/>
                  <a:pt x="71125" y="28575"/>
                  <a:pt x="114300" y="28575"/>
                </a:cubicBezTo>
                <a:cubicBezTo>
                  <a:pt x="137964" y="28575"/>
                  <a:pt x="159395" y="38174"/>
                  <a:pt x="174933" y="53667"/>
                </a:cubicBezTo>
                <a:cubicBezTo>
                  <a:pt x="175022" y="53757"/>
                  <a:pt x="175111" y="53846"/>
                  <a:pt x="175200" y="53935"/>
                </a:cubicBezTo>
                <a:lnTo>
                  <a:pt x="178594" y="57150"/>
                </a:lnTo>
                <a:lnTo>
                  <a:pt x="157207" y="57150"/>
                </a:lnTo>
                <a:cubicBezTo>
                  <a:pt x="149304" y="57150"/>
                  <a:pt x="142920" y="63535"/>
                  <a:pt x="142920" y="71438"/>
                </a:cubicBezTo>
                <a:cubicBezTo>
                  <a:pt x="142920" y="79340"/>
                  <a:pt x="149304" y="85725"/>
                  <a:pt x="157207" y="85725"/>
                </a:cubicBezTo>
                <a:lnTo>
                  <a:pt x="214357" y="85725"/>
                </a:lnTo>
                <a:cubicBezTo>
                  <a:pt x="222260" y="85725"/>
                  <a:pt x="228645" y="79340"/>
                  <a:pt x="228645" y="71438"/>
                </a:cubicBezTo>
                <a:lnTo>
                  <a:pt x="228645" y="14288"/>
                </a:lnTo>
                <a:cubicBezTo>
                  <a:pt x="228645" y="6385"/>
                  <a:pt x="222260" y="0"/>
                  <a:pt x="214357" y="0"/>
                </a:cubicBezTo>
                <a:cubicBezTo>
                  <a:pt x="206454" y="0"/>
                  <a:pt x="200070" y="6385"/>
                  <a:pt x="200070" y="14288"/>
                </a:cubicBezTo>
                <a:lnTo>
                  <a:pt x="200070" y="38130"/>
                </a:lnTo>
                <a:lnTo>
                  <a:pt x="195024" y="33352"/>
                </a:lnTo>
                <a:cubicBezTo>
                  <a:pt x="174352" y="12769"/>
                  <a:pt x="145777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lose/>
                <a:moveTo>
                  <a:pt x="227439" y="130597"/>
                </a:moveTo>
                <a:cubicBezTo>
                  <a:pt x="228555" y="122783"/>
                  <a:pt x="223108" y="115550"/>
                  <a:pt x="215339" y="114434"/>
                </a:cubicBezTo>
                <a:cubicBezTo>
                  <a:pt x="207571" y="113318"/>
                  <a:pt x="200293" y="118765"/>
                  <a:pt x="199177" y="126534"/>
                </a:cubicBezTo>
                <a:cubicBezTo>
                  <a:pt x="193238" y="168057"/>
                  <a:pt x="157475" y="199980"/>
                  <a:pt x="114300" y="199980"/>
                </a:cubicBezTo>
                <a:cubicBezTo>
                  <a:pt x="90636" y="199980"/>
                  <a:pt x="69205" y="190381"/>
                  <a:pt x="53667" y="174888"/>
                </a:cubicBezTo>
                <a:cubicBezTo>
                  <a:pt x="53578" y="174799"/>
                  <a:pt x="53489" y="174709"/>
                  <a:pt x="53400" y="174620"/>
                </a:cubicBezTo>
                <a:lnTo>
                  <a:pt x="50006" y="171405"/>
                </a:lnTo>
                <a:lnTo>
                  <a:pt x="71393" y="171405"/>
                </a:lnTo>
                <a:cubicBezTo>
                  <a:pt x="79296" y="171405"/>
                  <a:pt x="85680" y="165021"/>
                  <a:pt x="85680" y="157118"/>
                </a:cubicBezTo>
                <a:cubicBezTo>
                  <a:pt x="85680" y="149215"/>
                  <a:pt x="79296" y="142830"/>
                  <a:pt x="71393" y="142830"/>
                </a:cubicBezTo>
                <a:lnTo>
                  <a:pt x="14288" y="142875"/>
                </a:lnTo>
                <a:cubicBezTo>
                  <a:pt x="10492" y="142875"/>
                  <a:pt x="6831" y="144393"/>
                  <a:pt x="4152" y="147117"/>
                </a:cubicBezTo>
                <a:cubicBezTo>
                  <a:pt x="1473" y="149840"/>
                  <a:pt x="-45" y="153457"/>
                  <a:pt x="0" y="157296"/>
                </a:cubicBezTo>
                <a:lnTo>
                  <a:pt x="446" y="214000"/>
                </a:lnTo>
                <a:cubicBezTo>
                  <a:pt x="491" y="221903"/>
                  <a:pt x="6965" y="228243"/>
                  <a:pt x="14868" y="228154"/>
                </a:cubicBezTo>
                <a:cubicBezTo>
                  <a:pt x="22771" y="228064"/>
                  <a:pt x="29111" y="221635"/>
                  <a:pt x="29021" y="213732"/>
                </a:cubicBezTo>
                <a:lnTo>
                  <a:pt x="28843" y="190738"/>
                </a:lnTo>
                <a:lnTo>
                  <a:pt x="33620" y="195248"/>
                </a:lnTo>
                <a:cubicBezTo>
                  <a:pt x="54293" y="215831"/>
                  <a:pt x="82823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A95EAF"/>
          </a:solidFill>
          <a:ln/>
        </p:spPr>
      </p:sp>
      <p:sp>
        <p:nvSpPr>
          <p:cNvPr id="13" name="Text 10"/>
          <p:cNvSpPr/>
          <p:nvPr/>
        </p:nvSpPr>
        <p:spPr>
          <a:xfrm>
            <a:off x="812800" y="4241800"/>
            <a:ext cx="508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A95E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Quadrant II (Reverse Regeneration)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12800" y="4546600"/>
            <a:ext cx="5067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-Speed, +Torque. Power is negative. Energy flows from load to DC bus, confirming regeneration.</a:t>
            </a:r>
            <a:endParaRPr lang="en-US" sz="1600" dirty="0"/>
          </a:p>
        </p:txBody>
      </p:sp>
      <p:pic>
        <p:nvPicPr>
          <p:cNvPr id="15" name="Image 1" descr="https://kimi-img.moonshot.cn/pub/slides/25-12-09-19:51:17-d4s0qdcpm1tb9r55j7l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830" y="101600"/>
            <a:ext cx="5635445" cy="6350000"/>
          </a:xfrm>
          <a:prstGeom prst="roundRect">
            <a:avLst>
              <a:gd name="adj" fmla="val 1739"/>
            </a:avLst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rotWithShape="1" flip="none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rotWithShape="1" flip="none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280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5280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3665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665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2049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42049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0434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0434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8818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98818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7203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7203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1655" y="2687320"/>
            <a:ext cx="11172825" cy="23069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41655" y="2687320"/>
            <a:ext cx="11172825" cy="23069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515235" y="1350010"/>
            <a:ext cx="7161530" cy="1219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rotWithShape="1" flip="none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8-15:08:29-d2v81rdnfo2stf9dkdb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8750" y="17018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Validated Drive Performance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4000" y="2565400"/>
            <a:ext cx="3695700" cy="2590800"/>
          </a:xfrm>
          <a:custGeom>
            <a:avLst/>
            <a:gdLst/>
            <a:ahLst/>
            <a:cxnLst/>
            <a:rect l="l" t="t" r="r" b="b"/>
            <a:pathLst>
              <a:path w="3695700" h="2590800">
                <a:moveTo>
                  <a:pt x="101611" y="0"/>
                </a:moveTo>
                <a:lnTo>
                  <a:pt x="3594089" y="0"/>
                </a:lnTo>
                <a:cubicBezTo>
                  <a:pt x="3650207" y="0"/>
                  <a:pt x="3695700" y="45493"/>
                  <a:pt x="3695700" y="101611"/>
                </a:cubicBezTo>
                <a:lnTo>
                  <a:pt x="3695700" y="2489189"/>
                </a:lnTo>
                <a:cubicBezTo>
                  <a:pt x="3695700" y="2545307"/>
                  <a:pt x="3650207" y="2590800"/>
                  <a:pt x="3594089" y="2590800"/>
                </a:cubicBezTo>
                <a:lnTo>
                  <a:pt x="101611" y="2590800"/>
                </a:lnTo>
                <a:cubicBezTo>
                  <a:pt x="45493" y="2590800"/>
                  <a:pt x="0" y="2545307"/>
                  <a:pt x="0" y="24891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1693333" y="2768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8" name="Shape 5"/>
          <p:cNvSpPr/>
          <p:nvPr/>
        </p:nvSpPr>
        <p:spPr>
          <a:xfrm>
            <a:off x="1871133" y="294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912707" y="3733800"/>
            <a:ext cx="2374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8F5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Stable Torque Control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2750" y="4191000"/>
            <a:ext cx="337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drive successfully maintains positive torque against gravity in both motoring and regenerative modes.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50267" y="2565400"/>
            <a:ext cx="3695700" cy="2590800"/>
          </a:xfrm>
          <a:custGeom>
            <a:avLst/>
            <a:gdLst/>
            <a:ahLst/>
            <a:cxnLst/>
            <a:rect l="l" t="t" r="r" b="b"/>
            <a:pathLst>
              <a:path w="3695700" h="2590800">
                <a:moveTo>
                  <a:pt x="101611" y="0"/>
                </a:moveTo>
                <a:lnTo>
                  <a:pt x="3594089" y="0"/>
                </a:lnTo>
                <a:cubicBezTo>
                  <a:pt x="3650207" y="0"/>
                  <a:pt x="3695700" y="45493"/>
                  <a:pt x="3695700" y="101611"/>
                </a:cubicBezTo>
                <a:lnTo>
                  <a:pt x="3695700" y="2489189"/>
                </a:lnTo>
                <a:cubicBezTo>
                  <a:pt x="3695700" y="2545307"/>
                  <a:pt x="3650207" y="2590800"/>
                  <a:pt x="3594089" y="2590800"/>
                </a:cubicBezTo>
                <a:lnTo>
                  <a:pt x="101611" y="2590800"/>
                </a:lnTo>
                <a:cubicBezTo>
                  <a:pt x="45493" y="2590800"/>
                  <a:pt x="0" y="2545307"/>
                  <a:pt x="0" y="24891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689600" y="2768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A95EAF"/>
          </a:solidFill>
          <a:ln/>
        </p:spPr>
      </p:sp>
      <p:sp>
        <p:nvSpPr>
          <p:cNvPr id="13" name="Shape 10"/>
          <p:cNvSpPr/>
          <p:nvPr/>
        </p:nvSpPr>
        <p:spPr>
          <a:xfrm>
            <a:off x="5867400" y="294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016288" y="3733800"/>
            <a:ext cx="215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A95E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Effective Protection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409017" y="4191000"/>
            <a:ext cx="337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dynamic braking chopper successfully clamped the DC bus voltage, preventing component damage.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246533" y="2565400"/>
            <a:ext cx="3695700" cy="2590800"/>
          </a:xfrm>
          <a:custGeom>
            <a:avLst/>
            <a:gdLst/>
            <a:ahLst/>
            <a:cxnLst/>
            <a:rect l="l" t="t" r="r" b="b"/>
            <a:pathLst>
              <a:path w="3695700" h="2590800">
                <a:moveTo>
                  <a:pt x="101611" y="0"/>
                </a:moveTo>
                <a:lnTo>
                  <a:pt x="3594089" y="0"/>
                </a:lnTo>
                <a:cubicBezTo>
                  <a:pt x="3650207" y="0"/>
                  <a:pt x="3695700" y="45493"/>
                  <a:pt x="3695700" y="101611"/>
                </a:cubicBezTo>
                <a:lnTo>
                  <a:pt x="3695700" y="2489189"/>
                </a:lnTo>
                <a:cubicBezTo>
                  <a:pt x="3695700" y="2545307"/>
                  <a:pt x="3650207" y="2590800"/>
                  <a:pt x="3594089" y="2590800"/>
                </a:cubicBezTo>
                <a:lnTo>
                  <a:pt x="101611" y="2590800"/>
                </a:lnTo>
                <a:cubicBezTo>
                  <a:pt x="45493" y="2590800"/>
                  <a:pt x="0" y="2545307"/>
                  <a:pt x="0" y="24891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9685867" y="2768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18" name="Shape 15"/>
          <p:cNvSpPr/>
          <p:nvPr/>
        </p:nvSpPr>
        <p:spPr>
          <a:xfrm>
            <a:off x="9863667" y="294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28575"/>
                </a:moveTo>
                <a:cubicBezTo>
                  <a:pt x="12769" y="28575"/>
                  <a:pt x="0" y="41344"/>
                  <a:pt x="0" y="57150"/>
                </a:cubicBezTo>
                <a:lnTo>
                  <a:pt x="0" y="385763"/>
                </a:lnTo>
                <a:cubicBezTo>
                  <a:pt x="0" y="409426"/>
                  <a:pt x="19199" y="428625"/>
                  <a:pt x="42863" y="428625"/>
                </a:cubicBezTo>
                <a:lnTo>
                  <a:pt x="414338" y="428625"/>
                </a:lnTo>
                <a:cubicBezTo>
                  <a:pt x="438001" y="428625"/>
                  <a:pt x="457200" y="409426"/>
                  <a:pt x="457200" y="385763"/>
                </a:cubicBezTo>
                <a:lnTo>
                  <a:pt x="457200" y="135910"/>
                </a:lnTo>
                <a:cubicBezTo>
                  <a:pt x="457200" y="119658"/>
                  <a:pt x="439876" y="109389"/>
                  <a:pt x="425589" y="117068"/>
                </a:cubicBezTo>
                <a:lnTo>
                  <a:pt x="285750" y="192345"/>
                </a:lnTo>
                <a:lnTo>
                  <a:pt x="285750" y="135910"/>
                </a:lnTo>
                <a:cubicBezTo>
                  <a:pt x="285750" y="119658"/>
                  <a:pt x="268426" y="109389"/>
                  <a:pt x="254139" y="117068"/>
                </a:cubicBezTo>
                <a:lnTo>
                  <a:pt x="114300" y="192345"/>
                </a:lnTo>
                <a:lnTo>
                  <a:pt x="114300" y="57150"/>
                </a:lnTo>
                <a:cubicBezTo>
                  <a:pt x="114300" y="41344"/>
                  <a:pt x="101531" y="28575"/>
                  <a:pt x="85725" y="28575"/>
                </a:cubicBezTo>
                <a:lnTo>
                  <a:pt x="28575" y="2857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9004088" y="3733800"/>
            <a:ext cx="2171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7C1D5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Industrial Suitability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405283" y="4191000"/>
            <a:ext cx="337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VFD topology is proven suitable for safe and reliable operation in industrial hoist and crane applications.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rotWithShape="1" flip="none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rotWithShape="1" flip="none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280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5280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3665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665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2049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42049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0434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0434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8818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98818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7203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7203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27175" y="2022475"/>
            <a:ext cx="9594850" cy="18116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1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 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1E1C0D"/>
      </a:dk1>
      <a:lt1>
        <a:srgbClr val="FFFFFF"/>
      </a:lt1>
      <a:dk2>
        <a:srgbClr val="DC62FA"/>
      </a:dk2>
      <a:lt2>
        <a:srgbClr val="E8DBCE"/>
      </a:lt2>
      <a:accent1>
        <a:srgbClr val="402E7F"/>
      </a:accent1>
      <a:accent2>
        <a:srgbClr val="BC7DB7"/>
      </a:accent2>
      <a:accent3>
        <a:srgbClr val="AF9DCD"/>
      </a:accent3>
      <a:accent4>
        <a:srgbClr val="FFFFFF"/>
      </a:accent4>
      <a:accent5>
        <a:srgbClr val="1E1C0D"/>
      </a:accent5>
      <a:accent6>
        <a:srgbClr val="00B0F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4-Quadrant VFD Hoist Drive</dc:title>
  <dc:subject>4-Quadrant VFD Hoist Drive</dc:subject>
  <dc:creator>Kimi</dc:creator>
  <cp:lastModifiedBy>Kimi</cp:lastModifiedBy>
  <cp:revision>1</cp:revision>
  <dcterms:created xsi:type="dcterms:W3CDTF">2025-12-09T22:05:43Z</dcterms:created>
  <dcterms:modified xsi:type="dcterms:W3CDTF">2025-12-09T22:05:43Z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{"Label":"4-Quadrant VFD Hoist Drive","ContentProducer":"001191110108MACG2KBH8F10000","ProduceID":"d4s0i9spm1tb9r55edn0","ReservedCode1":"","ContentPropagator":"001191110108MACG2KBH8F20000","PropagateID":"d4s0i9spm1tb9r55edn0","ReservedCode2":""}</vt:lpwstr>
  </property>
</Properties>
</file>