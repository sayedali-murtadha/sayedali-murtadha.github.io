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Quattrocento Sans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630"/>
              </a:gs>
              <a:gs pos="100000">
                <a:srgbClr val="141820"/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2540000" cy="254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667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spc="300" kern="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AND APPLICATION OF IIR AND FIR DIGITAL FILTERS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23000" y="4445000"/>
            <a:ext cx="3810000" cy="25400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47625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Noise Removal and Audio Signal Restoration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0" y="5588000"/>
            <a:ext cx="863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Sayed Ali Murtadah Alawi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202002704 | EENG 479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7112000"/>
            <a:ext cx="2540000" cy="25400"/>
          </a:xfrm>
          <a:prstGeom prst="rect">
            <a:avLst/>
          </a:prstGeom>
          <a:solidFill>
            <a:srgbClr val="5C9DA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PARTS D &amp; 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Objective &amp; Approach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93800"/>
            <a:ext cx="1524000" cy="381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5C9DAD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1625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2000" y="2159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Design, apply, and evaluate digital filters to restore corrupted audio signals. Progress from simple tones to complex real-world noise.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37550" y="165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5C9DAD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1625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82000" y="2159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Manual mathematical derivations progressing to automated MATLAB processing. Both IIR and FIR filter designs evaluated.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2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5C9DAD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3530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 Metrics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2000" y="4127500"/>
            <a:ext cx="4572000" cy="2032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318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QUANTITATIVE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7625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MSE &amp; SNR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16000" y="53086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Mean Squared Error and Signal-to-Noise Ratio for objective filter comparison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88000" y="4127500"/>
            <a:ext cx="4572000" cy="2032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4" name="Text 22"/>
          <p:cNvSpPr/>
          <p:nvPr/>
        </p:nvSpPr>
        <p:spPr>
          <a:xfrm>
            <a:off x="5842000" y="4318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QUALITATIVE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42000" y="47625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Perceptual Listening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42000" y="53086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Audio intelligibility assessment through human perceptual evaluation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414000" y="4127500"/>
            <a:ext cx="5080000" cy="2032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0" y="43180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0" y="4762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Progressive Complexity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668000" y="53086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C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tones to harmonics to broadband to real-world analog noise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2000" y="6858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i="1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goal was to see how different digital filters handle everything from simple artificial jamming to complex real-world analog noise."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0" y="8001000"/>
            <a:ext cx="2540000" cy="254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/ 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3" name="Shape 1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PARTS D &amp; 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A — Simple Unjamming (Single-Tone)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93800"/>
            <a:ext cx="1524000" cy="38100"/>
          </a:xfrm>
          <a:prstGeom prst="rect">
            <a:avLst/>
          </a:prstGeom>
          <a:solidFill>
            <a:srgbClr val="5C9DAD"/>
          </a:solidFill>
          <a:ln/>
        </p:spPr>
      </p:sp>
      <p:pic>
        <p:nvPicPr>
          <p:cNvPr id="11" name="Image 0" descr="https://kimi-img.moonshot.cn/pub/slides/okc/66gcsqbepyfnk/mnt/agents/output/dsp_project/images/figure1_single_tone.jpeg">    </p:cNvPr>
          <p:cNvPicPr>
            <a:picLocks noChangeAspect="1"/>
          </p:cNvPicPr>
          <p:nvPr/>
        </p:nvPicPr>
        <p:blipFill>
          <a:blip r:embed="rId1"/>
          <a:srcRect l="0" r="0" t="-7902" b="-7902"/>
          <a:stretch/>
        </p:blipFill>
        <p:spPr>
          <a:xfrm>
            <a:off x="762000" y="1460500"/>
            <a:ext cx="8128000" cy="685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2000" y="8382000"/>
            <a:ext cx="812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Figure 1: Frequency spectrum showing single-tone jamming spike at 5512.5 Hz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271000" y="1524000"/>
            <a:ext cx="50800" cy="279400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14" name="Text 11"/>
          <p:cNvSpPr/>
          <p:nvPr/>
        </p:nvSpPr>
        <p:spPr>
          <a:xfrm>
            <a:off x="9448800" y="149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71000" y="19050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massive, unnatural jamming spike precisely at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5512.5 Hz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corrupted signal.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271000" y="2857500"/>
            <a:ext cx="50800" cy="2794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17" name="Text 14"/>
          <p:cNvSpPr/>
          <p:nvPr/>
        </p:nvSpPr>
        <p:spPr>
          <a:xfrm>
            <a:off x="9448800" y="2832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71000" y="3238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2nd-Order Notch Filter (Pole-Zero method)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61st-Order Bandstop Filter (Hamming Window)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manually derived and implemented in MATLAB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271000" y="5207000"/>
            <a:ext cx="50800" cy="279400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20" name="Text 17"/>
          <p:cNvSpPr/>
          <p:nvPr/>
        </p:nvSpPr>
        <p:spPr>
          <a:xfrm>
            <a:off x="9448800" y="5181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B8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71000" y="5588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filters eliminated the ringing noise successfully.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271000" y="6413500"/>
            <a:ext cx="6223000" cy="14605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3" name="Text 20"/>
          <p:cNvSpPr/>
          <p:nvPr/>
        </p:nvSpPr>
        <p:spPr>
          <a:xfrm>
            <a:off x="9525000" y="65024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A95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INITIAL SNR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8A95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-24.73 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5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128500" y="6858000"/>
            <a:ext cx="69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5C9D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890500" y="65024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4A7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FILTERED SNR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A7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 -9.7 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A7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dB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525000" y="73406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IIR MSE: 0.02385 | FIR MSE: 0.02356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/ 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PARTS D &amp; 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B — Intermediate Unjamming (Harmonics)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93800"/>
            <a:ext cx="1524000" cy="38100"/>
          </a:xfrm>
          <a:prstGeom prst="rect">
            <a:avLst/>
          </a:prstGeom>
          <a:solidFill>
            <a:srgbClr val="5C9DAD"/>
          </a:solidFill>
          <a:ln/>
        </p:spPr>
      </p:sp>
      <p:pic>
        <p:nvPicPr>
          <p:cNvPr id="11" name="Image 0" descr="https://kimi-img.moonshot.cn/pub/slides/okc/66gcsqbepyfnk/mnt/agents/output/dsp_project/images/figure2_harmonics.jpeg">    </p:cNvPr>
          <p:cNvPicPr>
            <a:picLocks noChangeAspect="1"/>
          </p:cNvPicPr>
          <p:nvPr/>
        </p:nvPicPr>
        <p:blipFill>
          <a:blip r:embed="rId1"/>
          <a:srcRect l="0" r="0" t="-13947" b="-13947"/>
          <a:stretch/>
        </p:blipFill>
        <p:spPr>
          <a:xfrm>
            <a:off x="762000" y="1460500"/>
            <a:ext cx="8128000" cy="685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2000" y="8382000"/>
            <a:ext cx="812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Figure 2: Frequency spectrum showing 7 periodic harmonic spikes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271000" y="1524000"/>
            <a:ext cx="50800" cy="279400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14" name="Text 11"/>
          <p:cNvSpPr/>
          <p:nvPr/>
        </p:nvSpPr>
        <p:spPr>
          <a:xfrm>
            <a:off x="9448800" y="149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71000" y="19050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complex periodic jamming signal with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distinct high-magnitude spikes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271000" y="2857500"/>
            <a:ext cx="50800" cy="2794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17" name="Text 14"/>
          <p:cNvSpPr/>
          <p:nvPr/>
        </p:nvSpPr>
        <p:spPr>
          <a:xfrm>
            <a:off x="9448800" y="2832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 (AUTOMATED)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71000" y="3238500"/>
            <a:ext cx="6223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design would require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14th-order polynomial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MATLAB's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findpeaks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auto-isolate the 7 true spikes (threshold: 20,000).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Cascaded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distinct 2nd-order IIR Notch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filters via canned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iirnotch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271000" y="5905500"/>
            <a:ext cx="50800" cy="279400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20" name="Text 17"/>
          <p:cNvSpPr/>
          <p:nvPr/>
        </p:nvSpPr>
        <p:spPr>
          <a:xfrm>
            <a:off x="9448800" y="5880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B8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71000" y="6286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removal of the "comb-noise" while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perfectly preserving human dialogue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271000" y="7239000"/>
            <a:ext cx="6223000" cy="1016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3" name="Text 20"/>
          <p:cNvSpPr/>
          <p:nvPr/>
        </p:nvSpPr>
        <p:spPr>
          <a:xfrm>
            <a:off x="9525000" y="73406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A95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SNR IMPROVED FROM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C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A95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-24.67 dB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C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C9D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C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D4A7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-8.89 dB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525000" y="7772400"/>
            <a:ext cx="571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MSE: 0.7407 → 0.0195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3" name="Shape 1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PARTS D &amp; 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C — Complex Unjamming (Broadband)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93800"/>
            <a:ext cx="1524000" cy="38100"/>
          </a:xfrm>
          <a:prstGeom prst="rect">
            <a:avLst/>
          </a:prstGeom>
          <a:solidFill>
            <a:srgbClr val="5C9DAD"/>
          </a:solidFill>
          <a:ln/>
        </p:spPr>
      </p:sp>
      <p:pic>
        <p:nvPicPr>
          <p:cNvPr id="11" name="Image 0" descr="https://kimi-img.moonshot.cn/pub/slides/okc/66gcsqbepyfnk/mnt/agents/output/dsp_project/images/figure3_broadband.jpeg">    </p:cNvPr>
          <p:cNvPicPr>
            <a:picLocks noChangeAspect="1"/>
          </p:cNvPicPr>
          <p:nvPr/>
        </p:nvPicPr>
        <p:blipFill>
          <a:blip r:embed="rId1"/>
          <a:srcRect l="0" r="0" t="-12377" b="-12377"/>
          <a:stretch/>
        </p:blipFill>
        <p:spPr>
          <a:xfrm>
            <a:off x="762000" y="1460500"/>
            <a:ext cx="8128000" cy="685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2000" y="8382000"/>
            <a:ext cx="812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Figure 3: Spectrogram showing heavy broadband noise bursts up to 15.5 kHz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271000" y="1524000"/>
            <a:ext cx="50800" cy="279400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14" name="Text 11"/>
          <p:cNvSpPr/>
          <p:nvPr/>
        </p:nvSpPr>
        <p:spPr>
          <a:xfrm>
            <a:off x="9448800" y="149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71000" y="19050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Heavy bursts of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broadband noise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the entire spectrum up to 15.5 kHz. Notch filters are useless here.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271000" y="2857500"/>
            <a:ext cx="50800" cy="2794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17" name="Text 14"/>
          <p:cNvSpPr/>
          <p:nvPr/>
        </p:nvSpPr>
        <p:spPr>
          <a:xfrm>
            <a:off x="9448800" y="2832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71000" y="3238500"/>
            <a:ext cx="6223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voice primarily occupies frequencies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4 kHz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Lowpass filters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4 kHz cutoff: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6th-order Butterworth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80th-order Windowed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271000" y="5270500"/>
            <a:ext cx="50800" cy="279400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20" name="Text 17"/>
          <p:cNvSpPr/>
          <p:nvPr/>
        </p:nvSpPr>
        <p:spPr>
          <a:xfrm>
            <a:off x="9448800" y="5245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B8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71000" y="5651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SNR improved by only ~0.6 dB, but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qualitative improvement was massive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271000" y="6604000"/>
            <a:ext cx="6223000" cy="1397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3" name="Shape 20"/>
          <p:cNvSpPr/>
          <p:nvPr/>
        </p:nvSpPr>
        <p:spPr>
          <a:xfrm>
            <a:off x="9559925" y="67945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A76A"/>
          </a:solidFill>
          <a:ln/>
        </p:spPr>
      </p:sp>
      <p:sp>
        <p:nvSpPr>
          <p:cNvPr id="24" name="Text 21"/>
          <p:cNvSpPr/>
          <p:nvPr/>
        </p:nvSpPr>
        <p:spPr>
          <a:xfrm>
            <a:off x="9906000" y="6769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525000" y="71755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SNR is an inadequate metric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broadband noise that overlaps with desired frequencies.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3" name="Shape 1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PARTS D &amp; 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Parts D &amp; E — Practical Tape Restoration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93800"/>
            <a:ext cx="1524000" cy="38100"/>
          </a:xfrm>
          <a:prstGeom prst="rect">
            <a:avLst/>
          </a:prstGeom>
          <a:solidFill>
            <a:srgbClr val="5C9DAD"/>
          </a:solidFill>
          <a:ln/>
        </p:spPr>
      </p:sp>
      <p:pic>
        <p:nvPicPr>
          <p:cNvPr id="11" name="Image 0" descr="https://kimi-img.moonshot.cn/pub/slides/okc/66gcsqbepyfnk/mnt/agents/output/dsp_project/images/figure4_tape_hiss.jpeg">    </p:cNvPr>
          <p:cNvPicPr>
            <a:picLocks noChangeAspect="1"/>
          </p:cNvPicPr>
          <p:nvPr/>
        </p:nvPicPr>
        <p:blipFill>
          <a:blip r:embed="rId1"/>
          <a:srcRect l="0" r="0" t="-2656" b="-2656"/>
          <a:stretch/>
        </p:blipFill>
        <p:spPr>
          <a:xfrm>
            <a:off x="762000" y="1460500"/>
            <a:ext cx="8128000" cy="685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2000" y="8382000"/>
            <a:ext cx="812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Figure 4: Spectral analysis highlighting high-frequency tape hiss and low-end instability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271000" y="1524000"/>
            <a:ext cx="50800" cy="279400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14" name="Text 11"/>
          <p:cNvSpPr/>
          <p:nvPr/>
        </p:nvSpPr>
        <p:spPr>
          <a:xfrm>
            <a:off x="9448800" y="149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71000" y="1905000"/>
            <a:ext cx="622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analog recordings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no clean reference signal. Plagued by low-end rumble and high-frequency tape hiss.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271000" y="3302000"/>
            <a:ext cx="50800" cy="2794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17" name="Text 14"/>
          <p:cNvSpPr/>
          <p:nvPr/>
        </p:nvSpPr>
        <p:spPr>
          <a:xfrm>
            <a:off x="9448800" y="327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71000" y="36830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4th-order IIR Butterworth Bandpass Filter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Lower cutoff: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 Hz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(removes sub-bass rumble)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Upper cutoff: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4000 Hz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(removes tape hiss)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271000" y="5270500"/>
            <a:ext cx="50800" cy="279400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20" name="Text 17"/>
          <p:cNvSpPr/>
          <p:nvPr/>
        </p:nvSpPr>
        <p:spPr>
          <a:xfrm>
            <a:off x="9448800" y="5245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B8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71000" y="5651500"/>
            <a:ext cx="622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the sub-bass rumble and high-end hiss, resulting 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warmer and clearer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historical audio.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filter applied to both SIG4 and SIG5.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271000" y="7048500"/>
            <a:ext cx="6223000" cy="889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3" name="Shape 20"/>
          <p:cNvSpPr/>
          <p:nvPr/>
        </p:nvSpPr>
        <p:spPr>
          <a:xfrm>
            <a:off x="9525000" y="7239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8A95A0"/>
          </a:solidFill>
          <a:ln/>
        </p:spPr>
      </p:sp>
      <p:sp>
        <p:nvSpPr>
          <p:cNvPr id="24" name="Text 21"/>
          <p:cNvSpPr/>
          <p:nvPr/>
        </p:nvSpPr>
        <p:spPr>
          <a:xfrm>
            <a:off x="9906000" y="7150100"/>
            <a:ext cx="533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quantitative metrics available — no clean reference signal exists for historical recordings.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/ 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430"/>
              </a:gs>
              <a:gs pos="100000">
                <a:srgbClr val="141820"/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5C9DA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Filter Trade-offs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4699000" cy="2032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6" name="Shape 4"/>
          <p:cNvSpPr/>
          <p:nvPr/>
        </p:nvSpPr>
        <p:spPr>
          <a:xfrm>
            <a:off x="1035050" y="1498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5C9DAD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460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IIR Filters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05000"/>
            <a:ext cx="419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efficient — achieve cutoffs at much lower orders (e.g.,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6th-order vs 80th-order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Introduce phase distortion.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333500"/>
            <a:ext cx="4699000" cy="2032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5C9DA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0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 Filters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1905000"/>
            <a:ext cx="419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absolute stability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phase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 very high filter orders.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333500"/>
            <a:ext cx="4826000" cy="2032000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02950" y="1498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56805" y="-16073"/>
                </a:moveTo>
                <a:lnTo>
                  <a:pt x="165616" y="5834"/>
                </a:lnTo>
                <a:lnTo>
                  <a:pt x="187523" y="14645"/>
                </a:lnTo>
                <a:cubicBezTo>
                  <a:pt x="189309" y="15359"/>
                  <a:pt x="190500" y="17145"/>
                  <a:pt x="190500" y="19050"/>
                </a:cubicBezTo>
                <a:cubicBezTo>
                  <a:pt x="190500" y="20955"/>
                  <a:pt x="189309" y="22741"/>
                  <a:pt x="187523" y="23455"/>
                </a:cubicBezTo>
                <a:lnTo>
                  <a:pt x="165616" y="32266"/>
                </a:lnTo>
                <a:lnTo>
                  <a:pt x="156805" y="54173"/>
                </a:lnTo>
                <a:cubicBezTo>
                  <a:pt x="156091" y="55959"/>
                  <a:pt x="154305" y="57150"/>
                  <a:pt x="152400" y="57150"/>
                </a:cubicBezTo>
                <a:cubicBezTo>
                  <a:pt x="150495" y="57150"/>
                  <a:pt x="148709" y="55959"/>
                  <a:pt x="147995" y="54173"/>
                </a:cubicBezTo>
                <a:lnTo>
                  <a:pt x="139184" y="32266"/>
                </a:lnTo>
                <a:lnTo>
                  <a:pt x="117277" y="23455"/>
                </a:lnTo>
                <a:cubicBezTo>
                  <a:pt x="115491" y="22741"/>
                  <a:pt x="114300" y="20955"/>
                  <a:pt x="114300" y="19050"/>
                </a:cubicBezTo>
                <a:cubicBezTo>
                  <a:pt x="114300" y="17145"/>
                  <a:pt x="115491" y="15359"/>
                  <a:pt x="117277" y="14645"/>
                </a:cubicBezTo>
                <a:lnTo>
                  <a:pt x="139184" y="5834"/>
                </a:lnTo>
                <a:lnTo>
                  <a:pt x="147995" y="-16073"/>
                </a:lnTo>
                <a:cubicBezTo>
                  <a:pt x="148709" y="-17859"/>
                  <a:pt x="150495" y="-19050"/>
                  <a:pt x="152400" y="-19050"/>
                </a:cubicBezTo>
                <a:cubicBezTo>
                  <a:pt x="154305" y="-19050"/>
                  <a:pt x="156091" y="-17859"/>
                  <a:pt x="156805" y="-16073"/>
                </a:cubicBezTo>
                <a:close/>
                <a:moveTo>
                  <a:pt x="65901" y="24825"/>
                </a:moveTo>
                <a:lnTo>
                  <a:pt x="78700" y="54650"/>
                </a:lnTo>
                <a:lnTo>
                  <a:pt x="108525" y="67449"/>
                </a:lnTo>
                <a:cubicBezTo>
                  <a:pt x="112038" y="68937"/>
                  <a:pt x="114300" y="72390"/>
                  <a:pt x="114300" y="76200"/>
                </a:cubicBezTo>
                <a:cubicBezTo>
                  <a:pt x="114300" y="80010"/>
                  <a:pt x="112038" y="83463"/>
                  <a:pt x="108525" y="84951"/>
                </a:cubicBezTo>
                <a:lnTo>
                  <a:pt x="78700" y="97750"/>
                </a:lnTo>
                <a:lnTo>
                  <a:pt x="65901" y="127575"/>
                </a:lnTo>
                <a:cubicBezTo>
                  <a:pt x="64413" y="131088"/>
                  <a:pt x="60960" y="133350"/>
                  <a:pt x="57150" y="133350"/>
                </a:cubicBezTo>
                <a:cubicBezTo>
                  <a:pt x="53340" y="133350"/>
                  <a:pt x="49887" y="131088"/>
                  <a:pt x="48399" y="127575"/>
                </a:cubicBezTo>
                <a:lnTo>
                  <a:pt x="35600" y="97750"/>
                </a:lnTo>
                <a:lnTo>
                  <a:pt x="5775" y="84951"/>
                </a:lnTo>
                <a:cubicBezTo>
                  <a:pt x="2262" y="83463"/>
                  <a:pt x="0" y="80010"/>
                  <a:pt x="0" y="76200"/>
                </a:cubicBezTo>
                <a:cubicBezTo>
                  <a:pt x="0" y="72390"/>
                  <a:pt x="2262" y="68937"/>
                  <a:pt x="5775" y="67449"/>
                </a:cubicBezTo>
                <a:lnTo>
                  <a:pt x="35600" y="54650"/>
                </a:lnTo>
                <a:lnTo>
                  <a:pt x="48399" y="24825"/>
                </a:lnTo>
                <a:cubicBezTo>
                  <a:pt x="49887" y="21312"/>
                  <a:pt x="53340" y="19050"/>
                  <a:pt x="57150" y="19050"/>
                </a:cubicBezTo>
                <a:cubicBezTo>
                  <a:pt x="60960" y="19050"/>
                  <a:pt x="64413" y="21312"/>
                  <a:pt x="65901" y="24825"/>
                </a:cubicBezTo>
                <a:close/>
                <a:moveTo>
                  <a:pt x="276225" y="180975"/>
                </a:moveTo>
                <a:cubicBezTo>
                  <a:pt x="280035" y="180975"/>
                  <a:pt x="283488" y="183237"/>
                  <a:pt x="284976" y="186750"/>
                </a:cubicBezTo>
                <a:lnTo>
                  <a:pt x="297775" y="216575"/>
                </a:lnTo>
                <a:lnTo>
                  <a:pt x="327600" y="229374"/>
                </a:lnTo>
                <a:cubicBezTo>
                  <a:pt x="331113" y="230862"/>
                  <a:pt x="333375" y="234315"/>
                  <a:pt x="333375" y="238125"/>
                </a:cubicBezTo>
                <a:cubicBezTo>
                  <a:pt x="333375" y="241935"/>
                  <a:pt x="331113" y="245388"/>
                  <a:pt x="327600" y="246876"/>
                </a:cubicBezTo>
                <a:lnTo>
                  <a:pt x="297775" y="259675"/>
                </a:lnTo>
                <a:lnTo>
                  <a:pt x="284976" y="289500"/>
                </a:lnTo>
                <a:cubicBezTo>
                  <a:pt x="283488" y="293013"/>
                  <a:pt x="280035" y="295275"/>
                  <a:pt x="276225" y="295275"/>
                </a:cubicBezTo>
                <a:cubicBezTo>
                  <a:pt x="272415" y="295275"/>
                  <a:pt x="268962" y="293013"/>
                  <a:pt x="267474" y="289500"/>
                </a:cubicBezTo>
                <a:lnTo>
                  <a:pt x="254675" y="259675"/>
                </a:lnTo>
                <a:lnTo>
                  <a:pt x="224850" y="246876"/>
                </a:lnTo>
                <a:cubicBezTo>
                  <a:pt x="221337" y="245388"/>
                  <a:pt x="219075" y="241935"/>
                  <a:pt x="219075" y="238125"/>
                </a:cubicBezTo>
                <a:cubicBezTo>
                  <a:pt x="219075" y="234315"/>
                  <a:pt x="221337" y="230862"/>
                  <a:pt x="224850" y="229374"/>
                </a:cubicBezTo>
                <a:lnTo>
                  <a:pt x="254675" y="216575"/>
                </a:lnTo>
                <a:lnTo>
                  <a:pt x="267474" y="186750"/>
                </a:lnTo>
                <a:cubicBezTo>
                  <a:pt x="268962" y="183237"/>
                  <a:pt x="272415" y="180975"/>
                  <a:pt x="276225" y="180975"/>
                </a:cubicBezTo>
                <a:close/>
                <a:moveTo>
                  <a:pt x="273844" y="0"/>
                </a:moveTo>
                <a:cubicBezTo>
                  <a:pt x="280392" y="0"/>
                  <a:pt x="286703" y="2619"/>
                  <a:pt x="291405" y="7263"/>
                </a:cubicBezTo>
                <a:lnTo>
                  <a:pt x="316587" y="32445"/>
                </a:lnTo>
                <a:cubicBezTo>
                  <a:pt x="321231" y="37148"/>
                  <a:pt x="323850" y="43458"/>
                  <a:pt x="323850" y="50006"/>
                </a:cubicBezTo>
                <a:cubicBezTo>
                  <a:pt x="323850" y="56555"/>
                  <a:pt x="321231" y="62865"/>
                  <a:pt x="316587" y="67568"/>
                </a:cubicBezTo>
                <a:lnTo>
                  <a:pt x="264081" y="120075"/>
                </a:lnTo>
                <a:lnTo>
                  <a:pt x="203775" y="59769"/>
                </a:lnTo>
                <a:lnTo>
                  <a:pt x="256282" y="7263"/>
                </a:lnTo>
                <a:cubicBezTo>
                  <a:pt x="260985" y="2619"/>
                  <a:pt x="267295" y="0"/>
                  <a:pt x="273844" y="0"/>
                </a:cubicBezTo>
                <a:close/>
                <a:moveTo>
                  <a:pt x="26313" y="237232"/>
                </a:moveTo>
                <a:lnTo>
                  <a:pt x="183594" y="79950"/>
                </a:lnTo>
                <a:lnTo>
                  <a:pt x="243900" y="140256"/>
                </a:lnTo>
                <a:lnTo>
                  <a:pt x="86618" y="297537"/>
                </a:lnTo>
                <a:cubicBezTo>
                  <a:pt x="81915" y="302181"/>
                  <a:pt x="75605" y="304800"/>
                  <a:pt x="69056" y="304800"/>
                </a:cubicBezTo>
                <a:cubicBezTo>
                  <a:pt x="62508" y="304800"/>
                  <a:pt x="56198" y="302181"/>
                  <a:pt x="51495" y="297537"/>
                </a:cubicBezTo>
                <a:lnTo>
                  <a:pt x="26313" y="272355"/>
                </a:lnTo>
                <a:cubicBezTo>
                  <a:pt x="21669" y="267653"/>
                  <a:pt x="19050" y="261342"/>
                  <a:pt x="19050" y="254794"/>
                </a:cubicBezTo>
                <a:cubicBezTo>
                  <a:pt x="19050" y="248245"/>
                  <a:pt x="21669" y="241935"/>
                  <a:pt x="26313" y="237232"/>
                </a:cubicBezTo>
                <a:close/>
              </a:path>
            </a:pathLst>
          </a:custGeom>
          <a:solidFill>
            <a:srgbClr val="D4A76A"/>
          </a:solidFill>
          <a:ln/>
        </p:spPr>
      </p:sp>
      <p:sp>
        <p:nvSpPr>
          <p:cNvPr id="15" name="Text 13"/>
          <p:cNvSpPr/>
          <p:nvPr/>
        </p:nvSpPr>
        <p:spPr>
          <a:xfrm>
            <a:off x="11353800" y="146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"Cheat Code"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19050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MATLAB's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filtfilt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(zero-phase filtering) mitigates IIR phase distortion.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7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IIR for offline audio processing.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36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C9D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SUMMARY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64000"/>
          <a:ext cx="14732000" cy="2794000"/>
        </p:xfrm>
        <a:graphic>
          <a:graphicData uri="http://schemas.openxmlformats.org/drawingml/2006/table">
            <a:tbl>
              <a:tblPr/>
              <a:tblGrid>
                <a:gridCol w="2946400"/>
                <a:gridCol w="3241040"/>
                <a:gridCol w="1767840"/>
                <a:gridCol w="2651760"/>
                <a:gridCol w="2062480"/>
                <a:gridCol w="2062480"/>
              </a:tblGrid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Project Part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D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Filter 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D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D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 SNR (dB)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D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Final SNR (dB)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D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DAD"/>
                    </a:solidFill>
                  </a:tcPr>
                </a:tc>
              </a:tr>
              <a:tr h="465667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 A (Simple)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IIR Notch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-24.73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76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-9.75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76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0.02385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</a:tr>
              <a:tr h="465667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 Bandstop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76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-9.70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76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0.02356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 B (Intermediate)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Cascaded IIR Notch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14*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-24.67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76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-8.89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76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0.01953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</a:tr>
              <a:tr h="465667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 C (Complex)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IIR Lowpass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-7.41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-6.84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465667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 Lowpass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-6.82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0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62000" y="69215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 Seven distinct 2nd-order IIR notch filters cascaded (effective 14th-order system)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7493000"/>
            <a:ext cx="2540000" cy="25400"/>
          </a:xfrm>
          <a:prstGeom prst="rect">
            <a:avLst/>
          </a:prstGeom>
          <a:solidFill>
            <a:srgbClr val="5C9DAD"/>
          </a:solidFill>
          <a:ln/>
        </p:spPr>
      </p:sp>
      <p:sp>
        <p:nvSpPr>
          <p:cNvPr id="21" name="Text 18"/>
          <p:cNvSpPr/>
          <p:nvPr/>
        </p:nvSpPr>
        <p:spPr>
          <a:xfrm>
            <a:off x="3810000" y="77470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spc="400" kern="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80000" y="8445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5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samples available | Questions welcome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5A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Application of IIR and FIR Digital Filters</dc:title>
  <dc:subject>Design and Application of IIR and FIR Digital Filters</dc:subject>
  <dc:creator>Kimi</dc:creator>
  <cp:lastModifiedBy>Kimi</cp:lastModifiedBy>
  <cp:revision>1</cp:revision>
  <dcterms:created xsi:type="dcterms:W3CDTF">2026-05-09T07:33:12Z</dcterms:created>
  <dcterms:modified xsi:type="dcterms:W3CDTF">2026-05-09T07:33:12Z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{"Label":"Design and Application of IIR and FIR Digital Filters","ContentProducer":"001191110108MACG2KBH8F10000","ProduceID":"19e0b9f7-70e2-82eb-8000-0000e0763542","ReservedCode1":"","ContentPropagator":"001191110108MACG2KBH8F20000","PropagateID":"19e0b9f7-70e2-82eb-8000-0000e0763542","ReservedCode2":""}</vt:lpwstr>
  </property>
</Properties>
</file>